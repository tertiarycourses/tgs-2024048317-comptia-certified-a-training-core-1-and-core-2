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of Core 1 exam (%)</c:v>
                </c:pt>
              </c:strCache>
            </c:strRef>
          </c:tx>
          <c:spPr>
            <a:solidFill>
              <a:srgbClr val="1F6FEB"/>
            </a:solidFill>
          </c:spPr>
          <c:cat>
            <c:strRef>
              <c:f>Sheet1!$A$2:$A$6</c:f>
              <c:strCache>
                <c:ptCount val="5"/>
                <c:pt idx="0">
                  <c:v>Mobile Devices</c:v>
                </c:pt>
                <c:pt idx="1">
                  <c:v>Networking</c:v>
                </c:pt>
                <c:pt idx="2">
                  <c:v>Hardware</c:v>
                </c:pt>
                <c:pt idx="3">
                  <c:v>Virtualization &amp; Cloud</c:v>
                </c:pt>
                <c:pt idx="4">
                  <c:v>HW/Network Troubleshooting</c:v>
                </c:pt>
              </c:strCache>
            </c:strRef>
          </c:cat>
          <c:val>
            <c:numRef>
              <c:f>Sheet1!$B$2:$B$6</c:f>
              <c:numCache>
                <c:formatCode>0"%"</c:formatCode>
                <c:ptCount val="5"/>
                <c:pt idx="0">
                  <c:v>13</c:v>
                </c:pt>
                <c:pt idx="1">
                  <c:v>23</c:v>
                </c:pt>
                <c:pt idx="2">
                  <c:v>25</c:v>
                </c:pt>
                <c:pt idx="3">
                  <c:v>11</c:v>
                </c:pt>
                <c:pt idx="4">
                  <c:v>28</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of Core 2 exam (%)</c:v>
                </c:pt>
              </c:strCache>
            </c:strRef>
          </c:tx>
          <c:spPr>
            <a:solidFill>
              <a:srgbClr val="1F6FEB"/>
            </a:solidFill>
          </c:spPr>
          <c:cat>
            <c:strRef>
              <c:f>Sheet1!$A$2:$A$5</c:f>
              <c:strCache>
                <c:ptCount val="4"/>
                <c:pt idx="0">
                  <c:v>Operating Systems</c:v>
                </c:pt>
                <c:pt idx="1">
                  <c:v>Security</c:v>
                </c:pt>
                <c:pt idx="2">
                  <c:v>Software Troubleshooting</c:v>
                </c:pt>
                <c:pt idx="3">
                  <c:v>Operational Procedures</c:v>
                </c:pt>
              </c:strCache>
            </c:strRef>
          </c:cat>
          <c:val>
            <c:numRef>
              <c:f>Sheet1!$B$2:$B$5</c:f>
              <c:numCache>
                <c:formatCode>0"%"</c:formatCode>
                <c:ptCount val="4"/>
                <c:pt idx="0">
                  <c:v>28</c:v>
                </c:pt>
                <c:pt idx="1">
                  <c:v>28</c:v>
                </c:pt>
                <c:pt idx="2">
                  <c:v>23</c:v>
                </c:pt>
                <c:pt idx="3">
                  <c:v>21</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464040" y="548640"/>
            <a:ext cx="2057400" cy="11704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64040" y="658368"/>
            <a:ext cx="2057400" cy="512064"/>
          </a:xfrm>
          <a:prstGeom prst="rect">
            <a:avLst/>
          </a:prstGeom>
          <a:noFill/>
        </p:spPr>
        <p:txBody>
          <a:bodyPr wrap="square" anchor="t">
            <a:spAutoFit/>
          </a:bodyPr>
          <a:lstStyle/>
          <a:p>
            <a:pPr algn="ctr">
              <a:spcAft>
                <a:spcPts val="400"/>
              </a:spcAft>
            </a:pPr>
            <a:r>
              <a:rPr sz="2100" b="1">
                <a:solidFill>
                  <a:srgbClr val="FFFFFF"/>
                </a:solidFill>
                <a:latin typeface="Arial"/>
              </a:rPr>
              <a:t>CompTIA A+</a:t>
            </a:r>
          </a:p>
        </p:txBody>
      </p:sp>
      <p:sp>
        <p:nvSpPr>
          <p:cNvPr id="8" name="TextBox 7"/>
          <p:cNvSpPr txBox="1"/>
          <p:nvPr/>
        </p:nvSpPr>
        <p:spPr>
          <a:xfrm>
            <a:off x="9464040" y="1170432"/>
            <a:ext cx="2057400" cy="457200"/>
          </a:xfrm>
          <a:prstGeom prst="rect">
            <a:avLst/>
          </a:prstGeom>
          <a:noFill/>
        </p:spPr>
        <p:txBody>
          <a:bodyPr wrap="square" anchor="t">
            <a:spAutoFit/>
          </a:bodyPr>
          <a:lstStyle/>
          <a:p>
            <a:pPr algn="ctr">
              <a:spcAft>
                <a:spcPts val="100"/>
              </a:spcAft>
            </a:pPr>
            <a:r>
              <a:rPr sz="950" b="1">
                <a:solidFill>
                  <a:srgbClr val="FFFFFF"/>
                </a:solidFill>
                <a:latin typeface="Arial"/>
              </a:rPr>
              <a:t>CORE 1  ·  CORE 2</a:t>
            </a:r>
          </a:p>
          <a:p>
            <a:pPr algn="ctr">
              <a:spcAft>
                <a:spcPts val="100"/>
              </a:spcAft>
            </a:pPr>
            <a:r>
              <a:rPr sz="850" b="0">
                <a:solidFill>
                  <a:srgbClr val="FFFFFF"/>
                </a:solidFill>
                <a:latin typeface="Arial"/>
              </a:rPr>
              <a:t>220-1101  ·  220-1102</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CompTIA Certified A+ Training (Core 1 and Core 2)</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TGS-2024048317</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v7.1  ·  19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IT infrastructure support, networking, systems administration and cybersecurity.</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CompTIA courses including A+, Network+, Security+, Linux+ and Cloud+.</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role.</a:t>
            </a:r>
          </a:p>
          <a:p>
            <a:pPr>
              <a:spcAft>
                <a:spcPts val="1000"/>
              </a:spcAft>
            </a:pPr>
            <a:r>
              <a:rPr sz="2000" b="0">
                <a:solidFill>
                  <a:srgbClr val="161B26"/>
                </a:solidFill>
                <a:latin typeface="Arial"/>
              </a:rPr>
              <a:t>•  Your current experience supporting PCs, laptops, mobile devices or networks.</a:t>
            </a:r>
          </a:p>
          <a:p>
            <a:pPr>
              <a:spcAft>
                <a:spcPts val="1000"/>
              </a:spcAft>
            </a:pPr>
            <a:r>
              <a:rPr sz="2000" b="0">
                <a:solidFill>
                  <a:srgbClr val="161B26"/>
                </a:solidFill>
                <a:latin typeface="Arial"/>
              </a:rPr>
              <a:t>•  Whether you are working towards the CompTIA A+ certification exams.</a:t>
            </a:r>
          </a:p>
          <a:p>
            <a:pPr>
              <a:spcAft>
                <a:spcPts val="1000"/>
              </a:spcAft>
            </a:pPr>
            <a:r>
              <a:rPr sz="2000" b="0">
                <a:solidFill>
                  <a:srgbClr val="161B26"/>
                </a:solidFill>
                <a:latin typeface="Arial"/>
              </a:rPr>
              <a:t>•  What you most want to be able to do confidently by the end of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Go to the LMS portal</a:t>
            </a:r>
          </a:p>
          <a:p>
            <a:pPr algn="l">
              <a:spcAft>
                <a:spcPts val="300"/>
              </a:spcAft>
            </a:pPr>
            <a:r>
              <a:rPr sz="1200" b="0">
                <a:solidFill>
                  <a:srgbClr val="5B6372"/>
                </a:solidFill>
                <a:latin typeface="Arial"/>
              </a:rPr>
              <a:t>Open https://lms-tms.tertiaryinfotech.com in your browser.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Log in</a:t>
            </a:r>
          </a:p>
          <a:p>
            <a:pPr algn="l">
              <a:spcAft>
                <a:spcPts val="300"/>
              </a:spcAft>
            </a:pPr>
            <a:r>
              <a:rPr sz="1200" b="0">
                <a:solidFill>
                  <a:srgbClr val="5B6372"/>
                </a:solidFill>
                <a:latin typeface="Arial"/>
              </a:rPr>
              <a:t>Sign in with the account e-mail you used to register for this course.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Open this course</a:t>
            </a:r>
          </a:p>
          <a:p>
            <a:pPr algn="l">
              <a:spcAft>
                <a:spcPts val="300"/>
              </a:spcAft>
            </a:pPr>
            <a:r>
              <a:rPr sz="1200" b="0">
                <a:solidFill>
                  <a:srgbClr val="5B6372"/>
                </a:solidFill>
                <a:latin typeface="Arial"/>
              </a:rPr>
              <a:t>Select 'CompTIA Certified A+ Training (Core 1 and Core 2)'.</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Download</a:t>
            </a:r>
          </a:p>
          <a:p>
            <a:pPr algn="l">
              <a:spcAft>
                <a:spcPts val="300"/>
              </a:spcAft>
            </a:pPr>
            <a:r>
              <a:rPr sz="1200" b="0">
                <a:solidFill>
                  <a:srgbClr val="5B6372"/>
                </a:solidFill>
                <a:latin typeface="Arial"/>
              </a:rPr>
              <a:t>Download the Trainer Slides, Learner Guide and Lesson Plan (PDF).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Get the labs</a:t>
            </a:r>
          </a:p>
          <a:p>
            <a:pPr algn="l">
              <a:spcAft>
                <a:spcPts val="300"/>
              </a:spcAft>
            </a:pPr>
            <a:r>
              <a:rPr sz="1200" b="0">
                <a:solidFill>
                  <a:srgbClr val="5B6372"/>
                </a:solidFill>
                <a:latin typeface="Arial"/>
              </a:rPr>
              <a:t>Open the lab repository on GitHub — the link is on your course page.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Keep them open</a:t>
            </a:r>
          </a:p>
          <a:p>
            <a:pPr algn="l">
              <a:spcAft>
                <a:spcPts val="300"/>
              </a:spcAft>
            </a:pPr>
            <a:r>
              <a:rPr sz="1200" b="0">
                <a:solidFill>
                  <a:srgbClr val="5B6372"/>
                </a:solidFill>
                <a:latin typeface="Arial"/>
              </a:rPr>
              <a:t>You may use these materials during the open-book 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  KNOWLEDGE (ASSESSED BY THE WA)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TSC Title</a:t>
            </a:r>
          </a:p>
          <a:p>
            <a:pPr algn="l">
              <a:spcAft>
                <a:spcPts val="300"/>
              </a:spcAft>
            </a:pPr>
            <a:r>
              <a:rPr sz="1000" b="0">
                <a:solidFill>
                  <a:srgbClr val="5B6372"/>
                </a:solidFill>
                <a:latin typeface="Arial"/>
              </a:rPr>
              <a:t>Infrastructure Support</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TSC Code</a:t>
            </a:r>
          </a:p>
          <a:p>
            <a:pPr algn="l">
              <a:spcAft>
                <a:spcPts val="300"/>
              </a:spcAft>
            </a:pPr>
            <a:r>
              <a:rPr sz="1000" b="0">
                <a:solidFill>
                  <a:srgbClr val="5B6372"/>
                </a:solidFill>
                <a:latin typeface="Arial"/>
              </a:rPr>
              <a:t>ICT-OUS-3007-1.1</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K1</a:t>
            </a:r>
          </a:p>
          <a:p>
            <a:pPr algn="l">
              <a:spcAft>
                <a:spcPts val="300"/>
              </a:spcAft>
            </a:pPr>
            <a:r>
              <a:rPr sz="1000" b="0">
                <a:solidFill>
                  <a:srgbClr val="5B6372"/>
                </a:solidFill>
                <a:latin typeface="Arial"/>
              </a:rPr>
              <a:t>Diagnostic tools and processes to identify technical issues or disruptions in network infrastructure</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K2</a:t>
            </a:r>
          </a:p>
          <a:p>
            <a:pPr algn="l">
              <a:spcAft>
                <a:spcPts val="300"/>
              </a:spcAft>
            </a:pPr>
            <a:r>
              <a:rPr sz="1000" b="0">
                <a:solidFill>
                  <a:srgbClr val="5B6372"/>
                </a:solidFill>
                <a:latin typeface="Arial"/>
              </a:rPr>
              <a:t>Infrastructure and network configuration techniques</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K3</a:t>
            </a:r>
          </a:p>
          <a:p>
            <a:pPr algn="l">
              <a:spcAft>
                <a:spcPts val="300"/>
              </a:spcAft>
            </a:pPr>
            <a:r>
              <a:rPr sz="1000" b="0">
                <a:solidFill>
                  <a:srgbClr val="5B6372"/>
                </a:solidFill>
                <a:latin typeface="Arial"/>
              </a:rPr>
              <a:t>Troubleshooting techniques for infrastructure technical issues and problems</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K4</a:t>
            </a:r>
          </a:p>
          <a:p>
            <a:pPr algn="l">
              <a:spcAft>
                <a:spcPts val="300"/>
              </a:spcAft>
            </a:pPr>
            <a:r>
              <a:rPr sz="1000" b="0">
                <a:solidFill>
                  <a:srgbClr val="5B6372"/>
                </a:solidFill>
                <a:latin typeface="Arial"/>
              </a:rPr>
              <a:t>Potential benefits and impact of infrastructure upgrades and improvements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K5</a:t>
            </a:r>
          </a:p>
          <a:p>
            <a:pPr algn="l">
              <a:spcAft>
                <a:spcPts val="300"/>
              </a:spcAft>
            </a:pPr>
            <a:r>
              <a:rPr sz="1000" b="0">
                <a:solidFill>
                  <a:srgbClr val="5B6372"/>
                </a:solidFill>
                <a:latin typeface="Arial"/>
              </a:rPr>
              <a:t>Sources of information for the development of infrastructure user guides and documentation</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K6</a:t>
            </a:r>
          </a:p>
          <a:p>
            <a:pPr algn="l">
              <a:spcAft>
                <a:spcPts val="300"/>
              </a:spcAft>
            </a:pPr>
            <a:r>
              <a:rPr sz="1000" b="0">
                <a:solidFill>
                  <a:srgbClr val="5B6372"/>
                </a:solidFill>
                <a:latin typeface="Arial"/>
              </a:rPr>
              <a:t>Types and purposes of system tests for infrastructure operating requirements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  ABILITIES (ASSESSED BY THE PP)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 — Abilities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A1</a:t>
            </a:r>
          </a:p>
          <a:p>
            <a:pPr algn="l">
              <a:spcAft>
                <a:spcPts val="300"/>
              </a:spcAft>
            </a:pPr>
            <a:r>
              <a:rPr sz="1100" b="0">
                <a:solidFill>
                  <a:srgbClr val="5B6372"/>
                </a:solidFill>
                <a:latin typeface="Arial"/>
              </a:rPr>
              <a:t>Diagnose technical issues in network operations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A2</a:t>
            </a:r>
          </a:p>
          <a:p>
            <a:pPr algn="l">
              <a:spcAft>
                <a:spcPts val="300"/>
              </a:spcAft>
            </a:pPr>
            <a:r>
              <a:rPr sz="1100" b="0">
                <a:solidFill>
                  <a:srgbClr val="5B6372"/>
                </a:solidFill>
                <a:latin typeface="Arial"/>
              </a:rPr>
              <a:t>Implement procedures to resolve root causes of technical issues</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A3</a:t>
            </a:r>
          </a:p>
          <a:p>
            <a:pPr algn="l">
              <a:spcAft>
                <a:spcPts val="300"/>
              </a:spcAft>
            </a:pPr>
            <a:r>
              <a:rPr sz="1100" b="0">
                <a:solidFill>
                  <a:srgbClr val="5B6372"/>
                </a:solidFill>
                <a:latin typeface="Arial"/>
              </a:rPr>
              <a:t>Troubleshoot technical issues in infrastructure systems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A4</a:t>
            </a:r>
          </a:p>
          <a:p>
            <a:pPr algn="l">
              <a:spcAft>
                <a:spcPts val="300"/>
              </a:spcAft>
            </a:pPr>
            <a:r>
              <a:rPr sz="1100" b="0">
                <a:solidFill>
                  <a:srgbClr val="5B6372"/>
                </a:solidFill>
                <a:latin typeface="Arial"/>
              </a:rPr>
              <a:t>Perform advanced infrastructure configurations</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A5</a:t>
            </a:r>
          </a:p>
          <a:p>
            <a:pPr algn="l">
              <a:spcAft>
                <a:spcPts val="300"/>
              </a:spcAft>
            </a:pPr>
            <a:r>
              <a:rPr sz="1100" b="0">
                <a:solidFill>
                  <a:srgbClr val="5B6372"/>
                </a:solidFill>
                <a:latin typeface="Arial"/>
              </a:rPr>
              <a:t>Develop action plans for infrastructure upgrades</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A6</a:t>
            </a:r>
          </a:p>
          <a:p>
            <a:pPr algn="l">
              <a:spcAft>
                <a:spcPts val="300"/>
              </a:spcAft>
            </a:pPr>
            <a:r>
              <a:rPr sz="1100" b="0">
                <a:solidFill>
                  <a:srgbClr val="5B6372"/>
                </a:solidFill>
                <a:latin typeface="Arial"/>
              </a:rPr>
              <a:t>Propose infrastructure improvement ideas based on user needs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A7</a:t>
            </a:r>
          </a:p>
          <a:p>
            <a:pPr algn="l">
              <a:spcAft>
                <a:spcPts val="300"/>
              </a:spcAft>
            </a:pPr>
            <a:r>
              <a:rPr sz="1100" b="0">
                <a:solidFill>
                  <a:srgbClr val="5B6372"/>
                </a:solidFill>
                <a:latin typeface="Arial"/>
              </a:rPr>
              <a:t>Test infrastructure systems against operating requirements</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A8</a:t>
            </a:r>
          </a:p>
          <a:p>
            <a:pPr algn="l">
              <a:spcAft>
                <a:spcPts val="300"/>
              </a:spcAft>
            </a:pPr>
            <a:r>
              <a:rPr sz="1100" b="0">
                <a:solidFill>
                  <a:srgbClr val="5B6372"/>
                </a:solidFill>
                <a:latin typeface="Arial"/>
              </a:rPr>
              <a:t>Organise information for the development of user guides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LO1 · Diagnose and resolve</a:t>
            </a:r>
          </a:p>
          <a:p>
            <a:pPr algn="l">
              <a:spcAft>
                <a:spcPts val="300"/>
              </a:spcAft>
            </a:pPr>
            <a:r>
              <a:rPr sz="1300" b="0">
                <a:solidFill>
                  <a:srgbClr val="5B6372"/>
                </a:solidFill>
                <a:latin typeface="Arial"/>
              </a:rPr>
              <a:t>Diagnose technical issues in network operations and implement procedures to resolve root causes.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LO2 · Troubleshoot and configure</a:t>
            </a:r>
          </a:p>
          <a:p>
            <a:pPr algn="l">
              <a:spcAft>
                <a:spcPts val="300"/>
              </a:spcAft>
            </a:pPr>
            <a:r>
              <a:rPr sz="1300" b="0">
                <a:solidFill>
                  <a:srgbClr val="5B6372"/>
                </a:solidFill>
                <a:latin typeface="Arial"/>
              </a:rPr>
              <a:t>Troubleshoot technical issues and perform advanced infrastructure configurations.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LO3 · Plan upgrades</a:t>
            </a:r>
          </a:p>
          <a:p>
            <a:pPr algn="l">
              <a:spcAft>
                <a:spcPts val="300"/>
              </a:spcAft>
            </a:pPr>
            <a:r>
              <a:rPr sz="1300" b="0">
                <a:solidFill>
                  <a:srgbClr val="5B6372"/>
                </a:solidFill>
                <a:latin typeface="Arial"/>
              </a:rPr>
              <a:t>Develop action plans for upgrades and propose improvement ideas based on user needs.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LO4 · Test and document</a:t>
            </a:r>
          </a:p>
          <a:p>
            <a:pPr algn="l">
              <a:spcAft>
                <a:spcPts val="300"/>
              </a:spcAft>
            </a:pPr>
            <a:r>
              <a:rPr sz="1300" b="0">
                <a:solidFill>
                  <a:srgbClr val="5B6372"/>
                </a:solidFill>
                <a:latin typeface="Arial"/>
              </a:rPr>
              <a:t>Test infrastructure systems and organise information for developing user guides.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CORE 1 + CORE 2  ·  54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 — Nine Domains Across Five Days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6459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6459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01 — Mobile Devices  (Core 1)</a:t>
            </a:r>
          </a:p>
          <a:p>
            <a:pPr algn="l">
              <a:spcAft>
                <a:spcPts val="300"/>
              </a:spcAft>
            </a:pPr>
            <a:r>
              <a:rPr sz="1000" b="0">
                <a:solidFill>
                  <a:srgbClr val="5B6372"/>
                </a:solidFill>
                <a:latin typeface="Arial"/>
              </a:rPr>
              <a:t>Laptop hardware · display components · accessories and ports · cellular and wireless · MDM and synchronisation</a:t>
            </a:r>
          </a:p>
        </p:txBody>
      </p:sp>
      <p:sp>
        <p:nvSpPr>
          <p:cNvPr id="12" name="Rectangle 11"/>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423160"/>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02 — Networking  (Core 1)</a:t>
            </a:r>
          </a:p>
          <a:p>
            <a:pPr algn="l">
              <a:spcAft>
                <a:spcPts val="300"/>
              </a:spcAft>
            </a:pPr>
            <a:r>
              <a:rPr sz="1000" b="0">
                <a:solidFill>
                  <a:srgbClr val="5B6372"/>
                </a:solidFill>
                <a:latin typeface="Arial"/>
              </a:rPr>
              <a:t>Protocols and ports · network devices · wireless standards · SOHO networks · IP addressing · networking tools</a:t>
            </a:r>
          </a:p>
        </p:txBody>
      </p:sp>
      <p:sp>
        <p:nvSpPr>
          <p:cNvPr id="17" name="Rectangle 16"/>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26700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6700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2935224"/>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03 — Hardware  (Core 1)</a:t>
            </a:r>
          </a:p>
          <a:p>
            <a:pPr algn="l">
              <a:spcAft>
                <a:spcPts val="300"/>
              </a:spcAft>
            </a:pPr>
            <a:r>
              <a:rPr sz="1000" b="0">
                <a:solidFill>
                  <a:srgbClr val="5B6372"/>
                </a:solidFill>
                <a:latin typeface="Arial"/>
              </a:rPr>
              <a:t>Cables and connectors · RAM · storage and RAID · motherboards · CPUs and cooling · power supplies · printers</a:t>
            </a:r>
          </a:p>
        </p:txBody>
      </p:sp>
      <p:sp>
        <p:nvSpPr>
          <p:cNvPr id="22" name="Rectangle 21"/>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18211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1821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447288"/>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04 — Virtualization and Cloud Computing  (Core 1)</a:t>
            </a:r>
          </a:p>
          <a:p>
            <a:pPr algn="l">
              <a:spcAft>
                <a:spcPts val="300"/>
              </a:spcAft>
            </a:pPr>
            <a:r>
              <a:rPr sz="1000" b="0">
                <a:solidFill>
                  <a:srgbClr val="5B6372"/>
                </a:solidFill>
                <a:latin typeface="Arial"/>
              </a:rPr>
              <a:t>Hypervisors · virtual machines · resource requirements · cloud models · shared resources and metered use</a:t>
            </a:r>
          </a:p>
        </p:txBody>
      </p:sp>
      <p:sp>
        <p:nvSpPr>
          <p:cNvPr id="27" name="Rectangle 26"/>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3959352"/>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05 — Hardware and Network Troubleshooting  (Core 1)</a:t>
            </a:r>
          </a:p>
          <a:p>
            <a:pPr algn="l">
              <a:spcAft>
                <a:spcPts val="300"/>
              </a:spcAft>
            </a:pPr>
            <a:r>
              <a:rPr sz="1000" b="0">
                <a:solidFill>
                  <a:srgbClr val="5B6372"/>
                </a:solidFill>
                <a:latin typeface="Arial"/>
              </a:rPr>
              <a:t>The CompTIA troubleshooting methodology · POST and boot faults · storage and RAID · display faults · printer and network symptoms</a:t>
            </a:r>
          </a:p>
        </p:txBody>
      </p:sp>
      <p:sp>
        <p:nvSpPr>
          <p:cNvPr id="32" name="Rectangle 31"/>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42062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42062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4471416"/>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06 — Operating Systems  (Core 2)</a:t>
            </a:r>
          </a:p>
          <a:p>
            <a:pPr algn="l">
              <a:spcAft>
                <a:spcPts val="300"/>
              </a:spcAft>
            </a:pPr>
            <a:r>
              <a:rPr sz="1000" b="0">
                <a:solidFill>
                  <a:srgbClr val="5B6372"/>
                </a:solidFill>
                <a:latin typeface="Arial"/>
              </a:rPr>
              <a:t>Windows editions and installation · command line · Windows tools and MMC · file systems · macOS and Linux</a:t>
            </a:r>
          </a:p>
        </p:txBody>
      </p:sp>
      <p:sp>
        <p:nvSpPr>
          <p:cNvPr id="37" name="Rectangle 36"/>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47183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47183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4983480"/>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07 — Security  (Core 2)</a:t>
            </a:r>
          </a:p>
          <a:p>
            <a:pPr algn="l">
              <a:spcAft>
                <a:spcPts val="300"/>
              </a:spcAft>
            </a:pPr>
            <a:r>
              <a:rPr sz="1000" b="0">
                <a:solidFill>
                  <a:srgbClr val="5B6372"/>
                </a:solidFill>
                <a:latin typeface="Arial"/>
              </a:rPr>
              <a:t>Physical and logical security · authentication and MFA · wireless security · malware · social engineering · workstation and mobile hardening</a:t>
            </a:r>
          </a:p>
        </p:txBody>
      </p:sp>
      <p:sp>
        <p:nvSpPr>
          <p:cNvPr id="42" name="Rectangle 41"/>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33272" y="523036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1764792" y="5495544"/>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08 — Software Troubleshooting  (Core 2)</a:t>
            </a:r>
          </a:p>
          <a:p>
            <a:pPr algn="l">
              <a:spcAft>
                <a:spcPts val="300"/>
              </a:spcAft>
            </a:pPr>
            <a:r>
              <a:rPr sz="1000" b="0">
                <a:solidFill>
                  <a:srgbClr val="5B6372"/>
                </a:solidFill>
                <a:latin typeface="Arial"/>
              </a:rPr>
              <a:t>Windows OS symptoms · recovery tools · malware removal · browser problems · mobile OS and application faults</a:t>
            </a:r>
          </a:p>
        </p:txBody>
      </p:sp>
      <p:sp>
        <p:nvSpPr>
          <p:cNvPr id="47" name="Rectangle 46"/>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33272" y="57424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3272" y="57424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51" name="TextBox 50"/>
          <p:cNvSpPr txBox="1"/>
          <p:nvPr/>
        </p:nvSpPr>
        <p:spPr>
          <a:xfrm>
            <a:off x="1764792" y="6007608"/>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09 — Operational Procedures  (Core 2)</a:t>
            </a:r>
          </a:p>
          <a:p>
            <a:pPr algn="l">
              <a:spcAft>
                <a:spcPts val="300"/>
              </a:spcAft>
            </a:pPr>
            <a:r>
              <a:rPr sz="1000" b="0">
                <a:solidFill>
                  <a:srgbClr val="5B6372"/>
                </a:solidFill>
                <a:latin typeface="Arial"/>
              </a:rPr>
              <a:t>Documentation and ticketing · asset management · change management · backup and recovery · safety and environment · professionalism · scripting and remote access</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EXAM DOMAIN WEIGHTING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CompTIA A+ Core 1 (220-1101) Exam Weighting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Hardware and Network Troubleshooting is the largest Core 1 domain at 28%, and Hardware follows at 25% — more than half the Core 1 exam sits in these two domains, so that is where your revision time should go.</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EXAM DOMAIN WEIGHTING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CompTIA A+ Core 2 (220-1102) Exam Weighting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Core 2 is the most evenly weighted of the two exams — Operating Systems and Security tie at 28% each, and no domain falls below 21%, so none can safely be skipped.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5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Days 1–3 · Core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Days 4–5 · Core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700"/>
              </a:spcAft>
            </a:pPr>
            <a:r>
              <a:rPr sz="1400" b="0">
                <a:solidFill>
                  <a:srgbClr val="161B26"/>
                </a:solidFill>
                <a:latin typeface="Arial"/>
              </a:rPr>
              <a:t>•  Day 1 — Mobile Devices and Networking</a:t>
            </a:r>
          </a:p>
          <a:p>
            <a:pPr>
              <a:spcAft>
                <a:spcPts val="700"/>
              </a:spcAft>
            </a:pPr>
            <a:r>
              <a:rPr sz="1200" b="0">
                <a:solidFill>
                  <a:srgbClr val="5B6372"/>
                </a:solidFill>
                <a:latin typeface="Arial"/>
              </a:rPr>
              <a:t>–  Digital Attendance (AM) · Introductions · Learning Outcomes</a:t>
            </a:r>
          </a:p>
          <a:p>
            <a:pPr>
              <a:spcAft>
                <a:spcPts val="700"/>
              </a:spcAft>
            </a:pPr>
            <a:r>
              <a:rPr sz="1200" b="0">
                <a:solidFill>
                  <a:srgbClr val="5B6372"/>
                </a:solidFill>
                <a:latin typeface="Arial"/>
              </a:rPr>
              <a:t>–  Topic 1: Mobile Devices (Labs 1–4)</a:t>
            </a:r>
          </a:p>
          <a:p>
            <a:pPr>
              <a:spcAft>
                <a:spcPts val="700"/>
              </a:spcAft>
            </a:pPr>
            <a:r>
              <a:rPr sz="1200" b="0">
                <a:solidFill>
                  <a:srgbClr val="5B6372"/>
                </a:solidFill>
                <a:latin typeface="Arial"/>
              </a:rPr>
              <a:t>–  Topic 2: Networking (Labs 5–11)</a:t>
            </a:r>
          </a:p>
          <a:p>
            <a:pPr>
              <a:spcAft>
                <a:spcPts val="700"/>
              </a:spcAft>
            </a:pPr>
            <a:r>
              <a:rPr sz="1400" b="0">
                <a:solidFill>
                  <a:srgbClr val="161B26"/>
                </a:solidFill>
                <a:latin typeface="Arial"/>
              </a:rPr>
              <a:t>•  Day 2 — Hardware, Virtualization and Cloud</a:t>
            </a:r>
          </a:p>
          <a:p>
            <a:pPr>
              <a:spcAft>
                <a:spcPts val="700"/>
              </a:spcAft>
            </a:pPr>
            <a:r>
              <a:rPr sz="1200" b="0">
                <a:solidFill>
                  <a:srgbClr val="5B6372"/>
                </a:solidFill>
                <a:latin typeface="Arial"/>
              </a:rPr>
              <a:t>–  Topic 3: Hardware (Labs 12–18)</a:t>
            </a:r>
          </a:p>
          <a:p>
            <a:pPr>
              <a:spcAft>
                <a:spcPts val="700"/>
              </a:spcAft>
            </a:pPr>
            <a:r>
              <a:rPr sz="1200" b="0">
                <a:solidFill>
                  <a:srgbClr val="5B6372"/>
                </a:solidFill>
                <a:latin typeface="Arial"/>
              </a:rPr>
              <a:t>–  Topic 4: Virtualization and Cloud (Labs 19–21)</a:t>
            </a:r>
          </a:p>
          <a:p>
            <a:pPr>
              <a:spcAft>
                <a:spcPts val="700"/>
              </a:spcAft>
            </a:pPr>
            <a:r>
              <a:rPr sz="1400" b="0">
                <a:solidFill>
                  <a:srgbClr val="161B26"/>
                </a:solidFill>
                <a:latin typeface="Arial"/>
              </a:rPr>
              <a:t>•  Day 3 — Hardware and Network Troubleshooting</a:t>
            </a:r>
          </a:p>
          <a:p>
            <a:pPr>
              <a:spcAft>
                <a:spcPts val="700"/>
              </a:spcAft>
            </a:pPr>
            <a:r>
              <a:rPr sz="1200" b="0">
                <a:solidFill>
                  <a:srgbClr val="5B6372"/>
                </a:solidFill>
                <a:latin typeface="Arial"/>
              </a:rPr>
              <a:t>–  Topic 5: Hardware and Network Troubleshooting (Labs 22–28)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700"/>
              </a:spcAft>
            </a:pPr>
            <a:r>
              <a:rPr sz="1400" b="0">
                <a:solidFill>
                  <a:srgbClr val="161B26"/>
                </a:solidFill>
                <a:latin typeface="Arial"/>
              </a:rPr>
              <a:t>•  Day 4 — Operating Systems and Security</a:t>
            </a:r>
          </a:p>
          <a:p>
            <a:pPr>
              <a:spcAft>
                <a:spcPts val="700"/>
              </a:spcAft>
            </a:pPr>
            <a:r>
              <a:rPr sz="1200" b="0">
                <a:solidFill>
                  <a:srgbClr val="5B6372"/>
                </a:solidFill>
                <a:latin typeface="Arial"/>
              </a:rPr>
              <a:t>–  Topic 6: Operating Systems (Labs 29–36)</a:t>
            </a:r>
          </a:p>
          <a:p>
            <a:pPr>
              <a:spcAft>
                <a:spcPts val="700"/>
              </a:spcAft>
            </a:pPr>
            <a:r>
              <a:rPr sz="1200" b="0">
                <a:solidFill>
                  <a:srgbClr val="5B6372"/>
                </a:solidFill>
                <a:latin typeface="Arial"/>
              </a:rPr>
              <a:t>–  Topic 7: Security begins (Labs 37–40)</a:t>
            </a:r>
          </a:p>
          <a:p>
            <a:pPr>
              <a:spcAft>
                <a:spcPts val="700"/>
              </a:spcAft>
            </a:pPr>
            <a:r>
              <a:rPr sz="1400" b="0">
                <a:solidFill>
                  <a:srgbClr val="161B26"/>
                </a:solidFill>
                <a:latin typeface="Arial"/>
              </a:rPr>
              <a:t>•  Day 5 — Software Troubleshooting, Operational Procedures and Assessment</a:t>
            </a:r>
          </a:p>
          <a:p>
            <a:pPr>
              <a:spcAft>
                <a:spcPts val="700"/>
              </a:spcAft>
            </a:pPr>
            <a:r>
              <a:rPr sz="1200" b="0">
                <a:solidFill>
                  <a:srgbClr val="5B6372"/>
                </a:solidFill>
                <a:latin typeface="Arial"/>
              </a:rPr>
              <a:t>–  Topic 7: Security concludes (Labs 41–44)</a:t>
            </a:r>
          </a:p>
          <a:p>
            <a:pPr>
              <a:spcAft>
                <a:spcPts val="700"/>
              </a:spcAft>
            </a:pPr>
            <a:r>
              <a:rPr sz="1200" b="0">
                <a:solidFill>
                  <a:srgbClr val="5B6372"/>
                </a:solidFill>
                <a:latin typeface="Arial"/>
              </a:rPr>
              <a:t>–  Topic 8: Software Troubleshooting (Labs 45–49)</a:t>
            </a:r>
          </a:p>
          <a:p>
            <a:pPr>
              <a:spcAft>
                <a:spcPts val="700"/>
              </a:spcAft>
            </a:pPr>
            <a:r>
              <a:rPr sz="1200" b="0">
                <a:solidFill>
                  <a:srgbClr val="5B6372"/>
                </a:solidFill>
                <a:latin typeface="Arial"/>
              </a:rPr>
              <a:t>–  Topic 9: Operational Procedures (Labs 50–54)</a:t>
            </a:r>
          </a:p>
          <a:p>
            <a:pPr>
              <a:spcAft>
                <a:spcPts val="700"/>
              </a:spcAft>
            </a:pPr>
            <a:r>
              <a:rPr sz="1200" b="0">
                <a:solidFill>
                  <a:srgbClr val="5B6372"/>
                </a:solidFill>
                <a:latin typeface="Arial"/>
              </a:rPr>
              <a:t>–  TRAQOM Survey · Digital Attendance (Assessment)</a:t>
            </a:r>
          </a:p>
          <a:p>
            <a:pPr>
              <a:spcAft>
                <a:spcPts val="700"/>
              </a:spcAft>
            </a:pPr>
            <a:r>
              <a:rPr sz="1200" b="0">
                <a:solidFill>
                  <a:srgbClr val="5B6372"/>
                </a:solidFill>
                <a:latin typeface="Arial"/>
              </a:rPr>
              <a:t>–  Final Assessment (WA + PP)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NO INSTALL REQUIRED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Lab Toolkit — Everything Runs in the Browser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IP Calculator</a:t>
            </a:r>
          </a:p>
          <a:p>
            <a:pPr algn="l">
              <a:spcAft>
                <a:spcPts val="300"/>
              </a:spcAft>
            </a:pPr>
            <a:r>
              <a:rPr sz="1000" b="0">
                <a:solidFill>
                  <a:srgbClr val="5B6372"/>
                </a:solidFill>
                <a:latin typeface="Arial"/>
              </a:rPr>
              <a:t>Browser subnet calculator for IPv4 and IPv6 — CIDR, netmask, network and broadcast addresses, usable host ranges and batch processing with CSV export.</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PCAP Analyzer</a:t>
            </a:r>
          </a:p>
          <a:p>
            <a:pPr algn="l">
              <a:spcAft>
                <a:spcPts val="300"/>
              </a:spcAft>
            </a:pPr>
            <a:r>
              <a:rPr sz="1000" b="0">
                <a:solidFill>
                  <a:srgbClr val="5B6372"/>
                </a:solidFill>
                <a:latin typeface="Arial"/>
              </a:rPr>
              <a:t>Browser packet-capture analyser — protocol distribution, top talkers, top conversations and a packet table with per-packet detail. Files are parsed locally and never uploaded.</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Cybersecurity Simulator</a:t>
            </a:r>
          </a:p>
          <a:p>
            <a:pPr algn="l">
              <a:spcAft>
                <a:spcPts val="300"/>
              </a:spcAft>
            </a:pPr>
            <a:r>
              <a:rPr sz="1000" b="0">
                <a:solidFill>
                  <a:srgbClr val="5B6372"/>
                </a:solidFill>
                <a:latin typeface="Arial"/>
              </a:rPr>
              <a:t>Safe threat-simulation lab covering phishing, XSS, SQL injection, password strength, malware, ransomware, social engineering and data leakage.</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RegexLab</a:t>
            </a:r>
          </a:p>
          <a:p>
            <a:pPr algn="l">
              <a:spcAft>
                <a:spcPts val="300"/>
              </a:spcAft>
            </a:pPr>
            <a:r>
              <a:rPr sz="1000" b="0">
                <a:solidFill>
                  <a:srgbClr val="5B6372"/>
                </a:solidFill>
                <a:latin typeface="Arial"/>
              </a:rPr>
              <a:t>Live regular-expression tester with flags, match explanation and substitution — used to filter and parse support logs.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Killercoda Ubuntu Playground</a:t>
            </a:r>
          </a:p>
          <a:p>
            <a:pPr algn="l">
              <a:spcAft>
                <a:spcPts val="300"/>
              </a:spcAft>
            </a:pPr>
            <a:r>
              <a:rPr sz="1000" b="0">
                <a:solidFill>
                  <a:srgbClr val="5B6372"/>
                </a:solidFill>
                <a:latin typeface="Arial"/>
              </a:rPr>
              <a:t>Free browser-based Ubuntu terminal with root access — no install required. Used for every Linux command-line lab in this course.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BOOKMARK THESE NOW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Tool Links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IP Calculator</a:t>
            </a:r>
          </a:p>
          <a:p>
            <a:pPr algn="l">
              <a:spcAft>
                <a:spcPts val="300"/>
              </a:spcAft>
            </a:pPr>
            <a:r>
              <a:rPr sz="1100" b="0">
                <a:solidFill>
                  <a:srgbClr val="5B6372"/>
                </a:solidFill>
                <a:latin typeface="Arial"/>
              </a:rPr>
              <a:t>https://alfredang.github.io/ipcalculator/</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PCAP Analyzer</a:t>
            </a:r>
          </a:p>
          <a:p>
            <a:pPr algn="l">
              <a:spcAft>
                <a:spcPts val="300"/>
              </a:spcAft>
            </a:pPr>
            <a:r>
              <a:rPr sz="1100" b="0">
                <a:solidFill>
                  <a:srgbClr val="5B6372"/>
                </a:solidFill>
                <a:latin typeface="Arial"/>
              </a:rPr>
              <a:t>https://alfredang.github.io/pcapanalyzer/</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Cybersecurity Simulator</a:t>
            </a:r>
          </a:p>
          <a:p>
            <a:pPr algn="l">
              <a:spcAft>
                <a:spcPts val="300"/>
              </a:spcAft>
            </a:pPr>
            <a:r>
              <a:rPr sz="1100" b="0">
                <a:solidFill>
                  <a:srgbClr val="5B6372"/>
                </a:solidFill>
                <a:latin typeface="Arial"/>
              </a:rPr>
              <a:t>https://alfredang.github.io/cybersecuritysimulator/</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RegexLab</a:t>
            </a:r>
          </a:p>
          <a:p>
            <a:pPr algn="l">
              <a:spcAft>
                <a:spcPts val="300"/>
              </a:spcAft>
            </a:pPr>
            <a:r>
              <a:rPr sz="1100" b="0">
                <a:solidFill>
                  <a:srgbClr val="5B6372"/>
                </a:solidFill>
                <a:latin typeface="Arial"/>
              </a:rPr>
              <a:t>https://alfredang.github.io/regexgenerator/</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Killercoda Ubuntu Playground</a:t>
            </a:r>
          </a:p>
          <a:p>
            <a:pPr algn="l">
              <a:spcAft>
                <a:spcPts val="300"/>
              </a:spcAft>
            </a:pPr>
            <a:r>
              <a:rPr sz="1100" b="0">
                <a:solidFill>
                  <a:srgbClr val="5B6372"/>
                </a:solidFill>
                <a:latin typeface="Arial"/>
              </a:rPr>
              <a:t>https://killercoda.com/playgrounds/scenario/ubuntu</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Short-Answer Questions (SAQ) · 1 hour · open book. Tests the underpinning knowledge taught across the nine domains.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Hands-on support, configuration and troubleshooting tasks · 1 hour · open book. Tests the ability you built in the labs.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You may use the course slides, the Learner Guide and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as Competent (C) or Not Yet Competent (NYC) on each instrument.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Scan the QR code on the LMS</a:t>
            </a:r>
          </a:p>
        </p:txBody>
      </p:sp>
      <p:cxnSp>
        <p:nvCxnSpPr>
          <p:cNvPr id="13" name="Connector 12"/>
          <p:cNvCxnSpPr/>
          <p:nvPr/>
        </p:nvCxnSpPr>
        <p:spPr>
          <a:xfrm>
            <a:off x="2651760" y="3282695"/>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Scan the SSG assessment QR</a:t>
            </a:r>
          </a:p>
        </p:txBody>
      </p:sp>
      <p:cxnSp>
        <p:nvCxnSpPr>
          <p:cNvPr id="20" name="Connector 19"/>
          <p:cNvCxnSpPr/>
          <p:nvPr/>
        </p:nvCxnSpPr>
        <p:spPr>
          <a:xfrm>
            <a:off x="4855464" y="3282695"/>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82695"/>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Upload your completed answers</a:t>
            </a:r>
          </a:p>
        </p:txBody>
      </p:sp>
      <p:cxnSp>
        <p:nvCxnSpPr>
          <p:cNvPr id="34" name="Connector 33"/>
          <p:cNvCxnSpPr/>
          <p:nvPr/>
        </p:nvCxnSpPr>
        <p:spPr>
          <a:xfrm>
            <a:off x="9262872" y="3282695"/>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Sign the Assessment Summary Record</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 on every training 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survey</a:t>
            </a:r>
          </a:p>
          <a:p>
            <a:pPr algn="l">
              <a:spcAft>
                <a:spcPts val="300"/>
              </a:spcAft>
            </a:pPr>
            <a:r>
              <a:rPr sz="1300" b="0">
                <a:solidFill>
                  <a:srgbClr val="5B6372"/>
                </a:solidFill>
                <a:latin typeface="Arial"/>
              </a:rPr>
              <a:t>Complete the mandatory TRAQOM course feedback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EXAM PREPARATION  ·  exams.tertiaryinfotech.com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Practice Exam — Before You Sit the Real Thing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Where</a:t>
            </a:r>
          </a:p>
          <a:p>
            <a:pPr algn="l">
              <a:spcAft>
                <a:spcPts val="300"/>
              </a:spcAft>
            </a:pPr>
            <a:r>
              <a:rPr sz="1200" b="0">
                <a:solidFill>
                  <a:srgbClr val="5B6372"/>
                </a:solidFill>
                <a:latin typeface="Arial"/>
              </a:rPr>
              <a:t>https://exams.tertiaryinfotech.com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Which exam</a:t>
            </a:r>
          </a:p>
          <a:p>
            <a:pPr algn="l">
              <a:spcAft>
                <a:spcPts val="300"/>
              </a:spcAft>
            </a:pPr>
            <a:r>
              <a:rPr sz="1200" b="0">
                <a:solidFill>
                  <a:srgbClr val="5B6372"/>
                </a:solidFill>
                <a:latin typeface="Arial"/>
              </a:rPr>
              <a:t>CompTIA A+ Core 1 and Core 2 Practice Exam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it helps</a:t>
            </a:r>
          </a:p>
          <a:p>
            <a:pPr algn="l">
              <a:spcAft>
                <a:spcPts val="300"/>
              </a:spcAft>
            </a:pPr>
            <a:r>
              <a:rPr sz="1200" b="0">
                <a:solidFill>
                  <a:srgbClr val="5B6372"/>
                </a:solidFill>
                <a:latin typeface="Arial"/>
              </a:rPr>
              <a:t>Sit the practice exam before your certification attempt. It mirrors the Core 1 and Core 2 domain weightings so your score by domain shows exactly where to revise.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How to use it</a:t>
            </a:r>
          </a:p>
          <a:p>
            <a:pPr algn="l">
              <a:spcAft>
                <a:spcPts val="300"/>
              </a:spcAft>
            </a:pPr>
            <a:r>
              <a:rPr sz="1200" b="0">
                <a:solidFill>
                  <a:srgbClr val="5B6372"/>
                </a:solidFill>
                <a:latin typeface="Arial"/>
              </a:rPr>
              <a:t>Sit it once cold to find your weak domains, revise those, then sit it again to confirm the gap has closed.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Core 1 target</a:t>
            </a:r>
          </a:p>
          <a:p>
            <a:pPr algn="l">
              <a:spcAft>
                <a:spcPts val="300"/>
              </a:spcAft>
            </a:pPr>
            <a:r>
              <a:rPr sz="1200" b="0">
                <a:solidFill>
                  <a:srgbClr val="5B6372"/>
                </a:solidFill>
                <a:latin typeface="Arial"/>
              </a:rPr>
              <a:t>Aim for a consistent pass across all five Core 1 domains before booking 220-1101.</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Core 2 target</a:t>
            </a:r>
          </a:p>
          <a:p>
            <a:pPr algn="l">
              <a:spcAft>
                <a:spcPts val="300"/>
              </a:spcAft>
            </a:pPr>
            <a:r>
              <a:rPr sz="1200" b="0">
                <a:solidFill>
                  <a:srgbClr val="5B6372"/>
                </a:solidFill>
                <a:latin typeface="Arial"/>
              </a:rPr>
              <a:t>Aim for a consistent pass across all four Core 2 domains before booking 220-1102.</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The Foundations Behind Every Domain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advClick="1">
    <p:push dir="l"/>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THIS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is a troubleshooting certification.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domain in both exams ultimately asks the same question: given these symptoms, what has actually failed, and what do you do about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FRAMEWORK BEHIND EVERY TROUBLESHOOTING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CompTIA Six-Step Troubleshooting Methodology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452372"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45237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395727"/>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232916" cy="877824"/>
          </a:xfrm>
          <a:prstGeom prst="rect">
            <a:avLst/>
          </a:prstGeom>
          <a:noFill/>
        </p:spPr>
        <p:txBody>
          <a:bodyPr wrap="square" anchor="ctr">
            <a:spAutoFit/>
          </a:bodyPr>
          <a:lstStyle/>
          <a:p>
            <a:pPr algn="ctr">
              <a:spcAft>
                <a:spcPts val="0"/>
              </a:spcAft>
            </a:pPr>
            <a:r>
              <a:rPr sz="1300" b="1">
                <a:solidFill>
                  <a:srgbClr val="161B26"/>
                </a:solidFill>
                <a:latin typeface="Arial"/>
              </a:rPr>
              <a:t>Identify the problem</a:t>
            </a:r>
          </a:p>
        </p:txBody>
      </p:sp>
      <p:sp>
        <p:nvSpPr>
          <p:cNvPr id="12" name="TextBox 11"/>
          <p:cNvSpPr txBox="1"/>
          <p:nvPr/>
        </p:nvSpPr>
        <p:spPr>
          <a:xfrm>
            <a:off x="868680" y="3877055"/>
            <a:ext cx="1269492" cy="512064"/>
          </a:xfrm>
          <a:prstGeom prst="rect">
            <a:avLst/>
          </a:prstGeom>
          <a:noFill/>
        </p:spPr>
        <p:txBody>
          <a:bodyPr wrap="square" anchor="t">
            <a:spAutoFit/>
          </a:bodyPr>
          <a:lstStyle/>
          <a:p>
            <a:pPr algn="ctr">
              <a:spcAft>
                <a:spcPts val="0"/>
              </a:spcAft>
            </a:pPr>
            <a:r>
              <a:rPr sz="900" b="0">
                <a:solidFill>
                  <a:srgbClr val="5B6372"/>
                </a:solidFill>
                <a:latin typeface="Arial"/>
              </a:rPr>
              <a:t>Question the user · what changed · back up first</a:t>
            </a:r>
          </a:p>
        </p:txBody>
      </p:sp>
      <p:cxnSp>
        <p:nvCxnSpPr>
          <p:cNvPr id="13" name="Connector 12"/>
          <p:cNvCxnSpPr/>
          <p:nvPr/>
        </p:nvCxnSpPr>
        <p:spPr>
          <a:xfrm>
            <a:off x="2284476" y="3282695"/>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084831"/>
            <a:ext cx="1452372"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084831"/>
            <a:ext cx="145237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395727"/>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23388" y="2999231"/>
            <a:ext cx="1232916" cy="877824"/>
          </a:xfrm>
          <a:prstGeom prst="rect">
            <a:avLst/>
          </a:prstGeom>
          <a:noFill/>
        </p:spPr>
        <p:txBody>
          <a:bodyPr wrap="square" anchor="ctr">
            <a:spAutoFit/>
          </a:bodyPr>
          <a:lstStyle/>
          <a:p>
            <a:pPr algn="ctr">
              <a:spcAft>
                <a:spcPts val="0"/>
              </a:spcAft>
            </a:pPr>
            <a:r>
              <a:rPr sz="1300" b="1">
                <a:solidFill>
                  <a:srgbClr val="161B26"/>
                </a:solidFill>
                <a:latin typeface="Arial"/>
              </a:rPr>
              <a:t>Establish a theory</a:t>
            </a:r>
          </a:p>
        </p:txBody>
      </p:sp>
      <p:sp>
        <p:nvSpPr>
          <p:cNvPr id="19" name="TextBox 18"/>
          <p:cNvSpPr txBox="1"/>
          <p:nvPr/>
        </p:nvSpPr>
        <p:spPr>
          <a:xfrm>
            <a:off x="2705100" y="3877055"/>
            <a:ext cx="1269492" cy="512064"/>
          </a:xfrm>
          <a:prstGeom prst="rect">
            <a:avLst/>
          </a:prstGeom>
          <a:noFill/>
        </p:spPr>
        <p:txBody>
          <a:bodyPr wrap="square" anchor="t">
            <a:spAutoFit/>
          </a:bodyPr>
          <a:lstStyle/>
          <a:p>
            <a:pPr algn="ctr">
              <a:spcAft>
                <a:spcPts val="0"/>
              </a:spcAft>
            </a:pPr>
            <a:r>
              <a:rPr sz="900" b="0">
                <a:solidFill>
                  <a:srgbClr val="5B6372"/>
                </a:solidFill>
                <a:latin typeface="Arial"/>
              </a:rPr>
              <a:t>Question the obvious · rank by likelihood</a:t>
            </a:r>
          </a:p>
        </p:txBody>
      </p:sp>
      <p:cxnSp>
        <p:nvCxnSpPr>
          <p:cNvPr id="20" name="Connector 19"/>
          <p:cNvCxnSpPr/>
          <p:nvPr/>
        </p:nvCxnSpPr>
        <p:spPr>
          <a:xfrm>
            <a:off x="4120896" y="3282695"/>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084831"/>
            <a:ext cx="1452372"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084831"/>
            <a:ext cx="145237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395727"/>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59808" y="2999231"/>
            <a:ext cx="1232916" cy="877824"/>
          </a:xfrm>
          <a:prstGeom prst="rect">
            <a:avLst/>
          </a:prstGeom>
          <a:noFill/>
        </p:spPr>
        <p:txBody>
          <a:bodyPr wrap="square" anchor="ctr">
            <a:spAutoFit/>
          </a:bodyPr>
          <a:lstStyle/>
          <a:p>
            <a:pPr algn="ctr">
              <a:spcAft>
                <a:spcPts val="0"/>
              </a:spcAft>
            </a:pPr>
            <a:r>
              <a:rPr sz="1300" b="1">
                <a:solidFill>
                  <a:srgbClr val="161B26"/>
                </a:solidFill>
                <a:latin typeface="Arial"/>
              </a:rPr>
              <a:t>Test the theory</a:t>
            </a:r>
          </a:p>
        </p:txBody>
      </p:sp>
      <p:sp>
        <p:nvSpPr>
          <p:cNvPr id="26" name="TextBox 25"/>
          <p:cNvSpPr txBox="1"/>
          <p:nvPr/>
        </p:nvSpPr>
        <p:spPr>
          <a:xfrm>
            <a:off x="4541520" y="3877055"/>
            <a:ext cx="1269492" cy="512064"/>
          </a:xfrm>
          <a:prstGeom prst="rect">
            <a:avLst/>
          </a:prstGeom>
          <a:noFill/>
        </p:spPr>
        <p:txBody>
          <a:bodyPr wrap="square" anchor="t">
            <a:spAutoFit/>
          </a:bodyPr>
          <a:lstStyle/>
          <a:p>
            <a:pPr algn="ctr">
              <a:spcAft>
                <a:spcPts val="0"/>
              </a:spcAft>
            </a:pPr>
            <a:r>
              <a:rPr sz="900" b="0">
                <a:solidFill>
                  <a:srgbClr val="5B6372"/>
                </a:solidFill>
                <a:latin typeface="Arial"/>
              </a:rPr>
              <a:t>Confirm or reject · escalate if needed</a:t>
            </a:r>
          </a:p>
        </p:txBody>
      </p:sp>
      <p:cxnSp>
        <p:nvCxnSpPr>
          <p:cNvPr id="27" name="Connector 26"/>
          <p:cNvCxnSpPr/>
          <p:nvPr/>
        </p:nvCxnSpPr>
        <p:spPr>
          <a:xfrm>
            <a:off x="5957316" y="3282695"/>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084831"/>
            <a:ext cx="1452372"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084831"/>
            <a:ext cx="145237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395727"/>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396228" y="2999231"/>
            <a:ext cx="1232916" cy="877824"/>
          </a:xfrm>
          <a:prstGeom prst="rect">
            <a:avLst/>
          </a:prstGeom>
          <a:noFill/>
        </p:spPr>
        <p:txBody>
          <a:bodyPr wrap="square" anchor="ctr">
            <a:spAutoFit/>
          </a:bodyPr>
          <a:lstStyle/>
          <a:p>
            <a:pPr algn="ctr">
              <a:spcAft>
                <a:spcPts val="0"/>
              </a:spcAft>
            </a:pPr>
            <a:r>
              <a:rPr sz="1300" b="1">
                <a:solidFill>
                  <a:srgbClr val="161B26"/>
                </a:solidFill>
                <a:latin typeface="Arial"/>
              </a:rPr>
              <a:t>Plan and implement</a:t>
            </a:r>
          </a:p>
        </p:txBody>
      </p:sp>
      <p:sp>
        <p:nvSpPr>
          <p:cNvPr id="33" name="TextBox 32"/>
          <p:cNvSpPr txBox="1"/>
          <p:nvPr/>
        </p:nvSpPr>
        <p:spPr>
          <a:xfrm>
            <a:off x="6377940" y="3877055"/>
            <a:ext cx="1269492" cy="512064"/>
          </a:xfrm>
          <a:prstGeom prst="rect">
            <a:avLst/>
          </a:prstGeom>
          <a:noFill/>
        </p:spPr>
        <p:txBody>
          <a:bodyPr wrap="square" anchor="t">
            <a:spAutoFit/>
          </a:bodyPr>
          <a:lstStyle/>
          <a:p>
            <a:pPr algn="ctr">
              <a:spcAft>
                <a:spcPts val="0"/>
              </a:spcAft>
            </a:pPr>
            <a:r>
              <a:rPr sz="900" b="0">
                <a:solidFill>
                  <a:srgbClr val="5B6372"/>
                </a:solidFill>
                <a:latin typeface="Arial"/>
              </a:rPr>
              <a:t>Vendor guidance · state the rollback</a:t>
            </a:r>
          </a:p>
        </p:txBody>
      </p:sp>
      <p:cxnSp>
        <p:nvCxnSpPr>
          <p:cNvPr id="34" name="Connector 33"/>
          <p:cNvCxnSpPr/>
          <p:nvPr/>
        </p:nvCxnSpPr>
        <p:spPr>
          <a:xfrm>
            <a:off x="7793736" y="3282695"/>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084831"/>
            <a:ext cx="1452372"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084831"/>
            <a:ext cx="145237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395727"/>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32648" y="2999231"/>
            <a:ext cx="1232916" cy="877824"/>
          </a:xfrm>
          <a:prstGeom prst="rect">
            <a:avLst/>
          </a:prstGeom>
          <a:noFill/>
        </p:spPr>
        <p:txBody>
          <a:bodyPr wrap="square" anchor="ctr">
            <a:spAutoFit/>
          </a:bodyPr>
          <a:lstStyle/>
          <a:p>
            <a:pPr algn="ctr">
              <a:spcAft>
                <a:spcPts val="0"/>
              </a:spcAft>
            </a:pPr>
            <a:r>
              <a:rPr sz="1300" b="1">
                <a:solidFill>
                  <a:srgbClr val="161B26"/>
                </a:solidFill>
                <a:latin typeface="Arial"/>
              </a:rPr>
              <a:t>Verify and prevent</a:t>
            </a:r>
          </a:p>
        </p:txBody>
      </p:sp>
      <p:sp>
        <p:nvSpPr>
          <p:cNvPr id="40" name="TextBox 39"/>
          <p:cNvSpPr txBox="1"/>
          <p:nvPr/>
        </p:nvSpPr>
        <p:spPr>
          <a:xfrm>
            <a:off x="8214360" y="3877055"/>
            <a:ext cx="1269492" cy="512064"/>
          </a:xfrm>
          <a:prstGeom prst="rect">
            <a:avLst/>
          </a:prstGeom>
          <a:noFill/>
        </p:spPr>
        <p:txBody>
          <a:bodyPr wrap="square" anchor="t">
            <a:spAutoFit/>
          </a:bodyPr>
          <a:lstStyle/>
          <a:p>
            <a:pPr algn="ctr">
              <a:spcAft>
                <a:spcPts val="0"/>
              </a:spcAft>
            </a:pPr>
            <a:r>
              <a:rPr sz="900" b="0">
                <a:solidFill>
                  <a:srgbClr val="5B6372"/>
                </a:solidFill>
                <a:latin typeface="Arial"/>
              </a:rPr>
              <a:t>Full functionality · preventive measures</a:t>
            </a:r>
          </a:p>
        </p:txBody>
      </p:sp>
      <p:cxnSp>
        <p:nvCxnSpPr>
          <p:cNvPr id="41" name="Connector 40"/>
          <p:cNvCxnSpPr/>
          <p:nvPr/>
        </p:nvCxnSpPr>
        <p:spPr>
          <a:xfrm>
            <a:off x="9630156" y="3282695"/>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084831"/>
            <a:ext cx="1452372"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084831"/>
            <a:ext cx="145237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395727"/>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69068" y="2999231"/>
            <a:ext cx="1232916" cy="877824"/>
          </a:xfrm>
          <a:prstGeom prst="rect">
            <a:avLst/>
          </a:prstGeom>
          <a:noFill/>
        </p:spPr>
        <p:txBody>
          <a:bodyPr wrap="square" anchor="ctr">
            <a:spAutoFit/>
          </a:bodyPr>
          <a:lstStyle/>
          <a:p>
            <a:pPr algn="ctr">
              <a:spcAft>
                <a:spcPts val="0"/>
              </a:spcAft>
            </a:pPr>
            <a:r>
              <a:rPr sz="1300" b="1">
                <a:solidFill>
                  <a:srgbClr val="161B26"/>
                </a:solidFill>
                <a:latin typeface="Arial"/>
              </a:rPr>
              <a:t>Document</a:t>
            </a:r>
          </a:p>
        </p:txBody>
      </p:sp>
      <p:sp>
        <p:nvSpPr>
          <p:cNvPr id="47" name="TextBox 46"/>
          <p:cNvSpPr txBox="1"/>
          <p:nvPr/>
        </p:nvSpPr>
        <p:spPr>
          <a:xfrm>
            <a:off x="10050780" y="3877055"/>
            <a:ext cx="1269492" cy="512064"/>
          </a:xfrm>
          <a:prstGeom prst="rect">
            <a:avLst/>
          </a:prstGeom>
          <a:noFill/>
        </p:spPr>
        <p:txBody>
          <a:bodyPr wrap="square" anchor="t">
            <a:spAutoFit/>
          </a:bodyPr>
          <a:lstStyle/>
          <a:p>
            <a:pPr algn="ctr">
              <a:spcAft>
                <a:spcPts val="0"/>
              </a:spcAft>
            </a:pPr>
            <a:r>
              <a:rPr sz="900" b="0">
                <a:solidFill>
                  <a:srgbClr val="5B6372"/>
                </a:solidFill>
                <a:latin typeface="Arial"/>
              </a:rPr>
              <a:t>Findings · actions · outcomes</a:t>
            </a:r>
          </a:p>
        </p:txBody>
      </p:sp>
      <p:sp>
        <p:nvSpPr>
          <p:cNvPr id="48" name="Rectangle 47"/>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791455"/>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EXAMINABLE IN ORDER</a:t>
            </a:r>
          </a:p>
        </p:txBody>
      </p:sp>
      <p:sp>
        <p:nvSpPr>
          <p:cNvPr id="51" name="TextBox 50"/>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steps are tested in sequence. Documenting is step six and is not optional — an undocumented fix teaches the organisation nothing and is invisible at audit.</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EXAMS, ONE CERTIFICATION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Core 1 vs Core 2 — What Each Exam Tests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Dimension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Core 1 (220-1101)</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Core 2 (220-1102)</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Focus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Physical infrastructure and connectivity</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Software, security and process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Largest domain</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Hardware &amp; Network Troubleshooting (28%)</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Operating Systems and Security (28% each)</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Typical task</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Diagnose a machine that will not POST</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Remove malware and harden the workstation</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Tools</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Multimeter, cable tester, toner probe</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Task Manager, MMC, command line</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Mindset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What component failed?</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What changed, and is it safe?</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You must pass BOTH exams to earn the A+ certification. They are sat separately and can be taken in either order, though Core 1 first is the conventional path.</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FIRST FORK IN EVERY DIAGNOSIS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Is This a Hardware or a Software Problem?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Does the fault survive
a clean boot from
other media?</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suspect hardware</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The fault follows the machine rather than the installed system. Move to component isolation: reseat, substitute a known-good part, and test the minimum configuration.</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suspect software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The hardware is capable, so the installed OS, a driver, an update or malware is responsible. Move to the recovery ladder starting at the least destructive rung.</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This single question saves more time than any other in support work — it halves the search space before you touch a screwdriver or a recovery tool.</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ALWAYS WORK BOTTOM-UP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Layers You Diagnose Through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Physical</a:t>
            </a:r>
          </a:p>
          <a:p>
            <a:pPr algn="l">
              <a:spcAft>
                <a:spcPts val="300"/>
              </a:spcAft>
            </a:pPr>
            <a:r>
              <a:rPr sz="1100" b="0">
                <a:solidFill>
                  <a:srgbClr val="5B6372"/>
                </a:solidFill>
                <a:latin typeface="Arial"/>
              </a:rPr>
              <a:t>Is it powered, plugged in, and does the link light show carrier? Nothing above this layer works until this one does.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Addressing</a:t>
            </a:r>
          </a:p>
          <a:p>
            <a:pPr algn="l">
              <a:spcAft>
                <a:spcPts val="300"/>
              </a:spcAft>
            </a:pPr>
            <a:r>
              <a:rPr sz="1100" b="0">
                <a:solidFill>
                  <a:srgbClr val="5B6372"/>
                </a:solidFill>
                <a:latin typeface="Arial"/>
              </a:rPr>
              <a:t>Does the host have a valid IP, mask and gateway — or an APIPA address meaning DHCP never answered?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Routing</a:t>
            </a:r>
          </a:p>
          <a:p>
            <a:pPr algn="l">
              <a:spcAft>
                <a:spcPts val="300"/>
              </a:spcAft>
            </a:pPr>
            <a:r>
              <a:rPr sz="1100" b="0">
                <a:solidFill>
                  <a:srgbClr val="5B6372"/>
                </a:solidFill>
                <a:latin typeface="Arial"/>
              </a:rPr>
              <a:t>Is there a default route, and does the gateway respond? This separates a local fault from an internet fault.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Name resolution</a:t>
            </a:r>
          </a:p>
          <a:p>
            <a:pPr algn="l">
              <a:spcAft>
                <a:spcPts val="300"/>
              </a:spcAft>
            </a:pPr>
            <a:r>
              <a:rPr sz="1100" b="0">
                <a:solidFill>
                  <a:srgbClr val="5B6372"/>
                </a:solidFill>
                <a:latin typeface="Arial"/>
              </a:rPr>
              <a:t>Does DNS resolve? A host that pings an IP but not a name has a DNS fault and nothing else.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Application</a:t>
            </a:r>
          </a:p>
          <a:p>
            <a:pPr algn="l">
              <a:spcAft>
                <a:spcPts val="300"/>
              </a:spcAft>
            </a:pPr>
            <a:r>
              <a:rPr sz="1100" b="0">
                <a:solidFill>
                  <a:srgbClr val="5B6372"/>
                </a:solidFill>
                <a:latin typeface="Arial"/>
              </a:rPr>
              <a:t>Is the service listening, is the port reachable, and is the firewall permitting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user</a:t>
            </a:r>
          </a:p>
          <a:p>
            <a:pPr algn="l">
              <a:spcAft>
                <a:spcPts val="300"/>
              </a:spcAft>
            </a:pPr>
            <a:r>
              <a:rPr sz="1100" b="0">
                <a:solidFill>
                  <a:srgbClr val="5B6372"/>
                </a:solidFill>
                <a:latin typeface="Arial"/>
              </a:rPr>
              <a:t>What did they actually do, and what changed? Most faults are a recent change rather than a spontaneous failure.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EXAMINABLE PORT PAIRS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Secure and Insecure Protocol Pairs — Know These On Sight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Insecure</a:t>
            </a:r>
          </a:p>
        </p:txBody>
      </p:sp>
      <p:sp>
        <p:nvSpPr>
          <p:cNvPr id="9" name="Rectangle 8"/>
          <p:cNvSpPr/>
          <p:nvPr/>
        </p:nvSpPr>
        <p:spPr>
          <a:xfrm>
            <a:off x="3542202" y="1783080"/>
            <a:ext cx="1967377"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Port</a:t>
            </a:r>
          </a:p>
        </p:txBody>
      </p:sp>
      <p:sp>
        <p:nvSpPr>
          <p:cNvPr id="11" name="Rectangle 10"/>
          <p:cNvSpPr/>
          <p:nvPr/>
        </p:nvSpPr>
        <p:spPr>
          <a:xfrm>
            <a:off x="5509579" y="1783080"/>
            <a:ext cx="1967377"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37595"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Secure replacement</a:t>
            </a:r>
          </a:p>
        </p:txBody>
      </p:sp>
      <p:sp>
        <p:nvSpPr>
          <p:cNvPr id="13" name="Rectangle 12"/>
          <p:cNvSpPr/>
          <p:nvPr/>
        </p:nvSpPr>
        <p:spPr>
          <a:xfrm>
            <a:off x="7476956" y="1783080"/>
            <a:ext cx="1967377"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04972"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Port</a:t>
            </a:r>
          </a:p>
        </p:txBody>
      </p:sp>
      <p:sp>
        <p:nvSpPr>
          <p:cNvPr id="15" name="Rectangle 14"/>
          <p:cNvSpPr/>
          <p:nvPr/>
        </p:nvSpPr>
        <p:spPr>
          <a:xfrm>
            <a:off x="9444333" y="1783080"/>
            <a:ext cx="1967377"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72349"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Why it matters</a:t>
            </a:r>
          </a:p>
        </p:txBody>
      </p:sp>
      <p:sp>
        <p:nvSpPr>
          <p:cNvPr id="17" name="Rectangle 16"/>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Telnet</a:t>
            </a:r>
          </a:p>
        </p:txBody>
      </p:sp>
      <p:sp>
        <p:nvSpPr>
          <p:cNvPr id="19" name="Rectangle 18"/>
          <p:cNvSpPr/>
          <p:nvPr/>
        </p:nvSpPr>
        <p:spPr>
          <a:xfrm>
            <a:off x="3542202" y="2258568"/>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0218" y="2258568"/>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23</a:t>
            </a:r>
          </a:p>
        </p:txBody>
      </p:sp>
      <p:sp>
        <p:nvSpPr>
          <p:cNvPr id="21" name="Rectangle 20"/>
          <p:cNvSpPr/>
          <p:nvPr/>
        </p:nvSpPr>
        <p:spPr>
          <a:xfrm>
            <a:off x="5509579" y="2258568"/>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37595" y="2258568"/>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SSH</a:t>
            </a:r>
          </a:p>
        </p:txBody>
      </p:sp>
      <p:sp>
        <p:nvSpPr>
          <p:cNvPr id="23" name="Rectangle 22"/>
          <p:cNvSpPr/>
          <p:nvPr/>
        </p:nvSpPr>
        <p:spPr>
          <a:xfrm>
            <a:off x="7476956" y="2258568"/>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2" y="2258568"/>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22</a:t>
            </a:r>
          </a:p>
        </p:txBody>
      </p:sp>
      <p:sp>
        <p:nvSpPr>
          <p:cNvPr id="25" name="Rectangle 24"/>
          <p:cNvSpPr/>
          <p:nvPr/>
        </p:nvSpPr>
        <p:spPr>
          <a:xfrm>
            <a:off x="9444333" y="2258568"/>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72349" y="2258568"/>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Telnet sends credentials in clear text</a:t>
            </a:r>
          </a:p>
        </p:txBody>
      </p:sp>
      <p:sp>
        <p:nvSpPr>
          <p:cNvPr id="27" name="Rectangle 26"/>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FTP</a:t>
            </a:r>
          </a:p>
        </p:txBody>
      </p:sp>
      <p:sp>
        <p:nvSpPr>
          <p:cNvPr id="29" name="Rectangle 28"/>
          <p:cNvSpPr/>
          <p:nvPr/>
        </p:nvSpPr>
        <p:spPr>
          <a:xfrm>
            <a:off x="3542202" y="2838297"/>
            <a:ext cx="1967377"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0218" y="2838297"/>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20/21</a:t>
            </a:r>
          </a:p>
        </p:txBody>
      </p:sp>
      <p:sp>
        <p:nvSpPr>
          <p:cNvPr id="31" name="Rectangle 30"/>
          <p:cNvSpPr/>
          <p:nvPr/>
        </p:nvSpPr>
        <p:spPr>
          <a:xfrm>
            <a:off x="5509579" y="2838297"/>
            <a:ext cx="1967377"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37595" y="2838297"/>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SFTP</a:t>
            </a:r>
          </a:p>
        </p:txBody>
      </p:sp>
      <p:sp>
        <p:nvSpPr>
          <p:cNvPr id="33" name="Rectangle 32"/>
          <p:cNvSpPr/>
          <p:nvPr/>
        </p:nvSpPr>
        <p:spPr>
          <a:xfrm>
            <a:off x="7476956" y="2838297"/>
            <a:ext cx="1967377"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04972" y="2838297"/>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22</a:t>
            </a:r>
          </a:p>
        </p:txBody>
      </p:sp>
      <p:sp>
        <p:nvSpPr>
          <p:cNvPr id="35" name="Rectangle 34"/>
          <p:cNvSpPr/>
          <p:nvPr/>
        </p:nvSpPr>
        <p:spPr>
          <a:xfrm>
            <a:off x="9444333" y="2838297"/>
            <a:ext cx="1967377"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72349" y="2838297"/>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FTP sends credentials and data in clear text</a:t>
            </a:r>
          </a:p>
        </p:txBody>
      </p:sp>
      <p:sp>
        <p:nvSpPr>
          <p:cNvPr id="37" name="Rectangle 36"/>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HTTP</a:t>
            </a:r>
          </a:p>
        </p:txBody>
      </p:sp>
      <p:sp>
        <p:nvSpPr>
          <p:cNvPr id="39" name="Rectangle 38"/>
          <p:cNvSpPr/>
          <p:nvPr/>
        </p:nvSpPr>
        <p:spPr>
          <a:xfrm>
            <a:off x="3542202" y="3418026"/>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418026"/>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80</a:t>
            </a:r>
          </a:p>
        </p:txBody>
      </p:sp>
      <p:sp>
        <p:nvSpPr>
          <p:cNvPr id="41" name="Rectangle 40"/>
          <p:cNvSpPr/>
          <p:nvPr/>
        </p:nvSpPr>
        <p:spPr>
          <a:xfrm>
            <a:off x="5509579" y="3418026"/>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37595" y="3418026"/>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HTTPS</a:t>
            </a:r>
          </a:p>
        </p:txBody>
      </p:sp>
      <p:sp>
        <p:nvSpPr>
          <p:cNvPr id="43" name="Rectangle 42"/>
          <p:cNvSpPr/>
          <p:nvPr/>
        </p:nvSpPr>
        <p:spPr>
          <a:xfrm>
            <a:off x="7476956" y="3418026"/>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04972" y="3418026"/>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443</a:t>
            </a:r>
          </a:p>
        </p:txBody>
      </p:sp>
      <p:sp>
        <p:nvSpPr>
          <p:cNvPr id="45" name="Rectangle 44"/>
          <p:cNvSpPr/>
          <p:nvPr/>
        </p:nvSpPr>
        <p:spPr>
          <a:xfrm>
            <a:off x="9444333" y="3418026"/>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572349" y="3418026"/>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HTTP has no encryption or server authentication</a:t>
            </a:r>
          </a:p>
        </p:txBody>
      </p:sp>
      <p:sp>
        <p:nvSpPr>
          <p:cNvPr id="47" name="Rectangle 46"/>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SNMPv1/v2</a:t>
            </a:r>
          </a:p>
        </p:txBody>
      </p:sp>
      <p:sp>
        <p:nvSpPr>
          <p:cNvPr id="49" name="Rectangle 48"/>
          <p:cNvSpPr/>
          <p:nvPr/>
        </p:nvSpPr>
        <p:spPr>
          <a:xfrm>
            <a:off x="3542202" y="3997755"/>
            <a:ext cx="1967377"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3997755"/>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161/162</a:t>
            </a:r>
          </a:p>
        </p:txBody>
      </p:sp>
      <p:sp>
        <p:nvSpPr>
          <p:cNvPr id="51" name="Rectangle 50"/>
          <p:cNvSpPr/>
          <p:nvPr/>
        </p:nvSpPr>
        <p:spPr>
          <a:xfrm>
            <a:off x="5509579" y="3997755"/>
            <a:ext cx="1967377"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637595" y="3997755"/>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SNMPv3</a:t>
            </a:r>
          </a:p>
        </p:txBody>
      </p:sp>
      <p:sp>
        <p:nvSpPr>
          <p:cNvPr id="53" name="Rectangle 52"/>
          <p:cNvSpPr/>
          <p:nvPr/>
        </p:nvSpPr>
        <p:spPr>
          <a:xfrm>
            <a:off x="7476956" y="3997755"/>
            <a:ext cx="1967377"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2" y="3997755"/>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161/162</a:t>
            </a:r>
          </a:p>
        </p:txBody>
      </p:sp>
      <p:sp>
        <p:nvSpPr>
          <p:cNvPr id="55" name="Rectangle 54"/>
          <p:cNvSpPr/>
          <p:nvPr/>
        </p:nvSpPr>
        <p:spPr>
          <a:xfrm>
            <a:off x="9444333" y="3997755"/>
            <a:ext cx="1967377"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572349" y="3997755"/>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Only v3 encrypts and authenticates</a:t>
            </a:r>
          </a:p>
        </p:txBody>
      </p:sp>
      <p:sp>
        <p:nvSpPr>
          <p:cNvPr id="57" name="Rectangle 5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POP3</a:t>
            </a:r>
          </a:p>
        </p:txBody>
      </p:sp>
      <p:sp>
        <p:nvSpPr>
          <p:cNvPr id="59" name="Rectangle 58"/>
          <p:cNvSpPr/>
          <p:nvPr/>
        </p:nvSpPr>
        <p:spPr>
          <a:xfrm>
            <a:off x="3542202" y="4577484"/>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70218" y="4577484"/>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110</a:t>
            </a:r>
          </a:p>
        </p:txBody>
      </p:sp>
      <p:sp>
        <p:nvSpPr>
          <p:cNvPr id="61" name="Rectangle 60"/>
          <p:cNvSpPr/>
          <p:nvPr/>
        </p:nvSpPr>
        <p:spPr>
          <a:xfrm>
            <a:off x="5509579" y="4577484"/>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637595" y="4577484"/>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POP3S</a:t>
            </a:r>
          </a:p>
        </p:txBody>
      </p:sp>
      <p:sp>
        <p:nvSpPr>
          <p:cNvPr id="63" name="Rectangle 62"/>
          <p:cNvSpPr/>
          <p:nvPr/>
        </p:nvSpPr>
        <p:spPr>
          <a:xfrm>
            <a:off x="7476956" y="4577484"/>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604972" y="4577484"/>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995</a:t>
            </a:r>
          </a:p>
        </p:txBody>
      </p:sp>
      <p:sp>
        <p:nvSpPr>
          <p:cNvPr id="65" name="Rectangle 64"/>
          <p:cNvSpPr/>
          <p:nvPr/>
        </p:nvSpPr>
        <p:spPr>
          <a:xfrm>
            <a:off x="9444333" y="4577484"/>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572349" y="4577484"/>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Mail and credentials otherwise travel in clear</a:t>
            </a:r>
          </a:p>
        </p:txBody>
      </p:sp>
      <p:sp>
        <p:nvSpPr>
          <p:cNvPr id="67" name="Rectangle 66"/>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Every insecure protocol on this list still exists in the field. Recognising it and naming its replacement is a direct exam objective and a real security finding.</a:t>
            </a:r>
          </a:p>
        </p:txBody>
      </p:sp>
      <p:sp>
        <p:nvSpPr>
          <p:cNvPr id="70" name="TextBox 6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71" name="TextBox 7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2" name="TextBox 7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HIGH-YIELD EXAM FACTS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Numbers You Must Simply Know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Six</a:t>
            </a:r>
          </a:p>
          <a:p>
            <a:pPr algn="l">
              <a:spcAft>
                <a:spcPts val="300"/>
              </a:spcAft>
            </a:pPr>
            <a:r>
              <a:rPr sz="1200" b="0">
                <a:solidFill>
                  <a:srgbClr val="5B6372"/>
                </a:solidFill>
                <a:latin typeface="Arial"/>
              </a:rPr>
              <a:t>Steps in the CompTIA troubleshooting methodology</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Seven</a:t>
            </a:r>
          </a:p>
          <a:p>
            <a:pPr algn="l">
              <a:spcAft>
                <a:spcPts val="300"/>
              </a:spcAft>
            </a:pPr>
            <a:r>
              <a:rPr sz="1200" b="0">
                <a:solidFill>
                  <a:srgbClr val="5B6372"/>
                </a:solidFill>
                <a:latin typeface="Arial"/>
              </a:rPr>
              <a:t>Stages in the laser imaging process, and steps in malware removal</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3-2-1</a:t>
            </a:r>
          </a:p>
          <a:p>
            <a:pPr algn="l">
              <a:spcAft>
                <a:spcPts val="300"/>
              </a:spcAft>
            </a:pPr>
            <a:r>
              <a:rPr sz="1200" b="0">
                <a:solidFill>
                  <a:srgbClr val="5B6372"/>
                </a:solidFill>
                <a:latin typeface="Arial"/>
              </a:rPr>
              <a:t>Backup copies, media types, and off-site copies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1, 6, 11</a:t>
            </a:r>
          </a:p>
          <a:p>
            <a:pPr algn="l">
              <a:spcAft>
                <a:spcPts val="300"/>
              </a:spcAft>
            </a:pPr>
            <a:r>
              <a:rPr sz="1200" b="0">
                <a:solidFill>
                  <a:srgbClr val="5B6372"/>
                </a:solidFill>
                <a:latin typeface="Arial"/>
              </a:rPr>
              <a:t>The only non-overlapping channels in the 2.4 GHz band</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100 m</a:t>
            </a:r>
          </a:p>
          <a:p>
            <a:pPr algn="l">
              <a:spcAft>
                <a:spcPts val="300"/>
              </a:spcAft>
            </a:pPr>
            <a:r>
              <a:rPr sz="1200" b="0">
                <a:solidFill>
                  <a:srgbClr val="5B6372"/>
                </a:solidFill>
                <a:latin typeface="Arial"/>
              </a:rPr>
              <a:t>Maximum twisted-pair copper run length</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4 GB</a:t>
            </a:r>
          </a:p>
          <a:p>
            <a:pPr algn="l">
              <a:spcAft>
                <a:spcPts val="300"/>
              </a:spcAft>
            </a:pPr>
            <a:r>
              <a:rPr sz="1200" b="0">
                <a:solidFill>
                  <a:srgbClr val="5B6372"/>
                </a:solidFill>
                <a:latin typeface="Arial"/>
              </a:rPr>
              <a:t>Maximum file size on a FAT32 volume</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169.254</a:t>
            </a:r>
          </a:p>
          <a:p>
            <a:pPr algn="l">
              <a:spcAft>
                <a:spcPts val="300"/>
              </a:spcAft>
            </a:pPr>
            <a:r>
              <a:rPr sz="1200" b="0">
                <a:solidFill>
                  <a:srgbClr val="5B6372"/>
                </a:solidFill>
                <a:latin typeface="Arial"/>
              </a:rPr>
              <a:t>The APIPA range that means DHCP failed</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2</a:t>
            </a:r>
          </a:p>
          <a:p>
            <a:pPr algn="l">
              <a:spcAft>
                <a:spcPts val="300"/>
              </a:spcAft>
            </a:pPr>
            <a:r>
              <a:rPr sz="1200" b="0">
                <a:solidFill>
                  <a:srgbClr val="5B6372"/>
                </a:solidFill>
                <a:latin typeface="Arial"/>
              </a:rPr>
              <a:t>Addresses reserved in every subnet — network and broadcast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CONCEPT → PRACTICE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This Course Is Structured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Concepts for the domain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Hands-on lab with real tools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your own result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exam objective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Practice exam by domain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Mobile Devices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Laptop hardware · display components · accessories and ports · cellular and wireless · MDM and synchronisation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advClick="1">
    <p:push dir="l"/>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1  ·  13%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01 at a Glance — Mobile Devices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13% of Core 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7%</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1, Lab 2, Lab 3, Lab 4</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Laptop hardware · display components · accessories and ports · cellular and wireless · MDM and synchronisation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13%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Mobile Devices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Laptop hardware replacement covers the battery, keyboard and keys, RAM (SODIMM), HDD/SSD migration and replacement, and the wireless cards — each is a field-replaceable unit with its own removal sequence and anti-static precautions.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LCD panels do not produce their own light: they need a backlight, historically a CCFL driven by an inverter, and today a strip of LEDs. Flickering or a dim image on an older panel points at the inverter or the backlight rather than the panel itself.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LCD panel technologies trade off against each other. TN is fast with poor colour, IPS gives excellent colour and viewing angles, and VA sits between them with the best contrast. OLED needs no backlight at all, giving the deepest blacks and the highest contrast ratio.</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digitizer converts analog touch or pen input into digital coordinates. When touch stops working but the image is perfect, the digitizer has failed, not the display panel — on many laptops the two are bonded and replaced as one unit.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advClick="1">
    <p:push dir="l"/>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13%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Mobile Devices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Connection methods differ in reach and purpose: USB-C, micro-USB and mini-USB for data and power, Lightning on older Apple devices, NFC for payments within about 4 cm, Bluetooth for peripheral pairing, and hotspot tethering to share a cellular connection.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port replicator reproduces a laptop's existing ports, while a docking station adds capability the laptop never had — full-size drive bays, expansion slots, optical drives and additional display outputs.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Cellular generations step up in capability: 2G (GSM and CDMA) carried voice and SMS, 3G added mobile internet and video calling, 4G LTE reached hundreds of megabits per second, and 5G targets multi-gigabit speeds with very low latency.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Bluetooth pairing follows a fixed sequence every time — enable Bluetooth, enable pairing mode, discover the device, enter the PIN or confirm the passkey, then test connectivity. Troubleshooting almost always means restarting that sequence.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advClick="1">
    <p:push dir="l"/>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13%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Mobile Devices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Mobile device management (MDM) and mobile application management (MAM) let an organisation push corporate email profiles, enforce two-factor authentication, deploy corporate applications and remotely wipe a lost device.</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Synchronisation binds a device to an account — Microsoft 365, Google Workspace or iCloud — and replicates mail, photos, calendar and contacts. Always check the data cap before enabling a full photo sync over a cellular connection.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advClick="1">
    <p:push dir="l"/>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Mobile Devices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Laptop Teardown and Field-Replaceable Unit Identification</a:t>
            </a:r>
          </a:p>
          <a:p>
            <a:pPr>
              <a:spcAft>
                <a:spcPts val="900"/>
              </a:spcAft>
            </a:pPr>
            <a:r>
              <a:rPr sz="1400" b="0">
                <a:solidFill>
                  <a:srgbClr val="161B26"/>
                </a:solidFill>
                <a:latin typeface="Arial"/>
              </a:rPr>
              <a:t>•  Mobile Display Technology and Digitizer Fault Diagnosis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Mobile Connectivity — Bluetooth, NFC, Hotspot and Cellular Configuration</a:t>
            </a:r>
          </a:p>
          <a:p>
            <a:pPr>
              <a:spcAft>
                <a:spcPts val="900"/>
              </a:spcAft>
            </a:pPr>
            <a:r>
              <a:rPr sz="1400" b="0">
                <a:solidFill>
                  <a:srgbClr val="161B26"/>
                </a:solidFill>
                <a:latin typeface="Arial"/>
              </a:rPr>
              <a:t>•  MDM Policy Design and Mobile Synchronisation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Laptop Teardown and Field-Replaceable Unit Identification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and safely replace laptop field-replaceable units — battery, RAM, storage, keyboard and wireless card — with correct ESD precautions (Core 1 objective 1.1).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Working on a training laptop or a high-resolution teardown reference, you identify every field-replaceable unit, record the removal order, and document the anti-static precautions each step requires. You then build a replacement runbook a colleague could follow without supervision.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FRU inventory table and a written replacement runbook for one component, with ESD precautions stated at every step.</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Training laptop or teardown reference, anti-static strap and mat, Phillips #00 screwdriver, plastic spudger, parts tray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FRU inventory lists at least six components with form factor and socket type; the runbook states the internal battery is disconnected first and reconnected last; and the laptop powers on and completes POST after reassembly.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Earth yourself</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Anti-static strap clipped to bare chassis metal</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Fully power down</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Shut down, unplug, hold power 15 s to discharge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Open the case</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Screws into a tray, laid out in chassis order</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Map every FRU</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Battery, RAM, storage, wireless card, keyboard</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Write the runbook</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Numbered steps, tools, ESD notes, verification test</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and safely replace laptop field-replaceable units — battery, RAM, storage, keyboard and wireless card — with correct ESD precautions (Core 1 objective 1.1).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Laptop Teardown and Field-Replaceable Unit Identification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FRU inventory lists at least six components with form factor and socket type; the runbook states the internal battery is disconnected first and reconnected last; and the laptop powers on and completes POST after reassembly.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Mobile Display Technology and Digitizer Fault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Compare LCD, IPS, VA and OLED panel technologies and correctly distinguish a display panel fault from a backlight, inverter or digitizer fault (Core 1 objective 1.2).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compare the four panel technologies on the criteria that matter in support work, then work through a set of display symptoms and decide, for each, which component has actually failed. The output is a diagnostic decision table you can use on the job.</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panel technology comparison table and a symptom-to-component diagnostic decision table covering eight display faults.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Reference displays or specification sheets, a torch, a smartphone with an OLED screen, a laptop with an LCD panel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decision table covers all eight symptoms with a named component and a confirming test for each, and correctly separates the backlight, inverter, panel and digitizer as four distinct failure points.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Compare the panels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TN, IPS, VA and OLED on colour, angle and contrast</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Torch test</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Prove which panel needs a backlight and which does not</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black level</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Full-black image on LCD against OLED, in a dark room</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Assign the fault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Backlight, inverter, panel or digitizer per symptom</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Build the table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Eight symptoms, each with a confirming test</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Compare LCD, IPS, VA and OLED panel technologies and correctly distinguish a display panel fault from a backlight, inverter or digitizer fault (Core 1 objective 1.2).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Mobile Display Technology and Digitizer Fault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decision table covers all eight symptoms with a named component and a confirming test for each, and correctly separates the backlight, inverter, panel and digitizer as four distinct failure points.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Mobile Connectivity — Bluetooth, NFC, Hotspot and Cellular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and troubleshoot mobile connection methods including Bluetooth pairing, NFC, hotspot tethering and cellular data settings (Core 1 objectives 1.3 and 1.4).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Using your own mobile device, you work through the full configuration sequence for each connection method, deliberately break each one, and record the symptom and the fix. The output is a connectivity troubleshooting flowchart covering all four methods.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configuration log for four connection methods and a troubleshooting flowchart mapping symptoms to fixes.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Android or iOS device, a second Bluetooth device, a laptop, IP Calculator (https://alfredang.github.io/ipcalculator/)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Calculator confirms the hotspot address is in a private range with the correct usable host count; your flowchart gives an ordered check sequence for all four symptoms; and each broken-and-fixed cycle is documented with its symptom.</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Find the settings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Record the menu path to each connection method</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Pair over Bluetooth</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Enable, discover, PIN, then test that data flows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Break and recover</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Note the symptom, then which step restored it</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Share a hotspot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Connect a laptop and record the address it receives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Verify the subnet</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IP Calculator confirms a private RFC 1918 range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and troubleshoot mobile connection methods including Bluetooth pairing, NFC, hotspot tethering and cellular data settings (Core 1 objectives 1.3 and 1.4).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Mobile Connectivity — Bluetooth, NFC, Hotspot and Cellular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IP Calculator confirms the hotspot address is in a private range with the correct usable host count; your flowchart gives an ordered check sequence for all four symptoms; and each broken-and-fixed cycle is documented with its symptom.</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MDM Policy Design and Mobile Synchronisation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Design a mobile device management policy and configure account synchronisation for corporate email, calendar and contacts, accounting for data caps (Core 1 objective 1.4).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design an MDM policy for a small organisation issuing corporate devices, then configure and verify account synchronisation on a real device. You finish by calculating the data cost of a full photo sync so you can advise a user before they exceed their cap.</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written MDM policy covering eight control areas, plus a verified synchronisation configuration and a data-cap impact calculation.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Mobile device, a Microsoft 365 or Google Workspace account, IP Calculator, organisational policy template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policy covers all eight control areas with a rule and a risk for each, clearly separates MDM from MAM and corporate from BYOD, synchronisation is verified end to end within one minute, and the data-cap calculation supports a stated Wi-Fi-only recommendation.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List the controls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Eight MDM areas from enrolment to remote wipe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Write the rules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One rule and one mitigated risk for each area</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Separate MDM and MAM</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Whole device against corporate apps and data only</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Sync an account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Add the account, then verify in the web client</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Cost the data</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Photo sync against a 5 GB cap; set Wi-Fi only</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Design a mobile device management policy and configure account synchronisation for corporate email, calendar and contacts, accounting for data caps (Core 1 objective 1.4).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MDM Policy Design and Mobile Synchronisation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policy covers all eight control areas with a rule and a risk for each, clearly separates MDM from MAM and corporate from BYOD, synchronisation is verified end to end within one minute, and the data-cap calculation supports a stated Wi-Fi-only recommendation.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RECAP · 13%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Mobile Devices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Identify and safely replace laptop field-replaceable units — battery, RAM, storage, keyboard and wireless card — with correct ESD precautions (Core 1 objective 1.1).</a:t>
            </a:r>
          </a:p>
          <a:p>
            <a:pPr>
              <a:spcAft>
                <a:spcPts val="1000"/>
              </a:spcAft>
            </a:pPr>
            <a:r>
              <a:rPr sz="1500" b="0">
                <a:solidFill>
                  <a:srgbClr val="161B26"/>
                </a:solidFill>
                <a:latin typeface="Arial"/>
              </a:rPr>
              <a:t>•  You can now: Compare LCD, IPS, VA and OLED panel technologies and correctly distinguish a display panel fault from a backlight, inverter or digitizer fault (Core 1 objective 1.2).</a:t>
            </a:r>
          </a:p>
          <a:p>
            <a:pPr>
              <a:spcAft>
                <a:spcPts val="1000"/>
              </a:spcAft>
            </a:pPr>
            <a:r>
              <a:rPr sz="1500" b="0">
                <a:solidFill>
                  <a:srgbClr val="161B26"/>
                </a:solidFill>
                <a:latin typeface="Arial"/>
              </a:rPr>
              <a:t>•  You can now: Configure and troubleshoot mobile connection methods including Bluetooth pairing, NFC, hotspot tethering and cellular data settings (Core 1 objectives 1.3 and 1.4).</a:t>
            </a:r>
          </a:p>
          <a:p>
            <a:pPr>
              <a:spcAft>
                <a:spcPts val="1000"/>
              </a:spcAft>
            </a:pPr>
            <a:r>
              <a:rPr sz="1500" b="0">
                <a:solidFill>
                  <a:srgbClr val="161B26"/>
                </a:solidFill>
                <a:latin typeface="Arial"/>
              </a:rPr>
              <a:t>•  You can now: Design a mobile device management policy and configure account synchronisation for corporate email, calendar and contacts, accounting for data caps (Core 1 objective 1.4).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advClick="1">
    <p:push dir="l"/>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Protocols and ports · network devices · wireless standards · SOHO networks · IP addressing · networking tools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advClick="1">
    <p:push dir="l"/>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1  ·  23%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02 at a Glance — Networking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23% of Core 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12%</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5, Lab 6, Lab 7, Lab 8, Lab 9, Lab 10, Lab 11</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Protocols and ports · network devices · wireless standards · SOHO networks · IP addressing · networking tools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23%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TCP is connection-oriented, sequenced and acknowledged with a 20–60 byte header, so it is used where delivery must be guaranteed. UDP is connectionless with an 8-byte header, so it is used where speed matters more than certainty — DNS queries, streaming and VoIP.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The A+ exam tests a fixed list of ports by number: FTP 20/21, SSH and SFTP 22, Telnet 23, SMTP 25, DNS 53, DHCP 67/68, HTTP 80, POP3 110, NetBIOS 137–139, IMAP 143, SNMP 161/162, LDAP 389, HTTPS 443, SMB/CIFS 445 and RDP 3389.</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Insecure legacy protocols have secure replacements you should be able to name on sight: Telnet gives way to SSH, FTP to SFTP, HTTP to HTTPS, and SNMPv1/v2 to SNMPv3, which is the first version to encrypt its traffic.</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Network devices sit at different layers. A hub blindly repeats traffic to every port, a switch forwards frames by MAC address, a router forwards packets between broadcast domains by IP address, and a firewall filters traffic by rule.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advClick="1">
    <p:push dir="l"/>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23%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Networking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SOHO router collapses several devices into one box: router, switch, wireless access point, firewall and DHCP server, and often adds content filtering, port forwarding and a VPN endpoint.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Power over Ethernet carries both data and electrical power over one Ethernet cable, powering access points, IP cameras and VoIP phones. A PoE switch powers many devices, while a PoE injector powers a single device where no PoE switch exists.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The 2.4 GHz band travels further and penetrates walls better but is slower and more congested, offering only three non-overlapping channels — 1, 6 and 11. The 5 GHz band is faster with far more non-overlapping channels but has a shorter usable range.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IPv4 addresses are split by a subnet mask into a network portion and a host portion. The number of host bits determines how many usable addresses a subnet provides — always two fewer than the block size, because the network and broadcast addresses are reserved.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advClick="1">
    <p:push dir="l"/>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23%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Networking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Private address ranges (10.0.0.0/8, 172.16.0.0/12 and 192.168.0.0/16) are not routable on the internet and must be translated by NAT. An APIPA address in 169.254.0.0/16 means the client asked for DHCP and got no answer.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VPN builds an encrypted tunnel across the public internet so a remote host can reach private LAN resources, while a VLAN partitions one physical switch into several isolated logical networks that each need a router to talk to one another.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Networking tools each answer one question: a crimper terminates RJ45 plugs, a cable tester confirms the pinout end to end, a toner probe finds which cable is which in a bundle, a punch-down tool seats wires into a patch panel, a loopback plug proves a port works, and a Wi-Fi analyser shows channel congestion.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Common server roles you must recognise are DNS, DHCP, file share, print server, mail server, syslog, web server, proxy, spam gateway, unified threat management appliance and load balancer.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advClick="1">
    <p:push dir="l"/>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Networking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Protocols and Ports — Building the A+ Port Reference</a:t>
            </a:r>
          </a:p>
          <a:p>
            <a:pPr>
              <a:spcAft>
                <a:spcPts val="900"/>
              </a:spcAft>
            </a:pPr>
            <a:r>
              <a:rPr sz="1400" b="0">
                <a:solidFill>
                  <a:srgbClr val="161B26"/>
                </a:solidFill>
                <a:latin typeface="Arial"/>
              </a:rPr>
              <a:t>•  IPv4 Subnetting and Address Planning with IP Calculator</a:t>
            </a:r>
          </a:p>
          <a:p>
            <a:pPr>
              <a:spcAft>
                <a:spcPts val="900"/>
              </a:spcAft>
            </a:pPr>
            <a:r>
              <a:rPr sz="1400" b="0">
                <a:solidFill>
                  <a:srgbClr val="161B26"/>
                </a:solidFill>
                <a:latin typeface="Arial"/>
              </a:rPr>
              <a:t>•  Network Devices and Traffic Behaviour Analysis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8–10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Wireless Standards, Channel Planning and Interference</a:t>
            </a:r>
          </a:p>
          <a:p>
            <a:pPr>
              <a:spcAft>
                <a:spcPts val="900"/>
              </a:spcAft>
            </a:pPr>
            <a:r>
              <a:rPr sz="1400" b="0">
                <a:solidFill>
                  <a:srgbClr val="161B26"/>
                </a:solidFill>
                <a:latin typeface="Arial"/>
              </a:rPr>
              <a:t>•  SOHO Network Configuration — DHCP, DNS, NAT and Port Forwarding</a:t>
            </a:r>
          </a:p>
          <a:p>
            <a:pPr>
              <a:spcAft>
                <a:spcPts val="900"/>
              </a:spcAft>
            </a:pPr>
            <a:r>
              <a:rPr sz="1400" b="0">
                <a:solidFill>
                  <a:srgbClr val="161B26"/>
                </a:solidFill>
                <a:latin typeface="Arial"/>
              </a:rPr>
              <a:t>•  Network Cabling — Termination, Testing and Tool Selection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11</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Packet Capture Analysis — Reading Real Network Traffic</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Protocols and Ports — Building the A+ Port Reference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the TCP/UDP ports, transport protocol and secure replacement for every protocol on the CompTIA A+ Core 1 objective 2.1 list.</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build the complete A+ port reference table from live evidence rather than memorisation: you query each service on a Killercoda Ubuntu playground, observe which transport it uses, and record the secure alternative where the protocol is insecure. The table becomes your revision sheet.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 16-row port reference table with port number, transport, purpose, security status and secure replacement.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Playground (https://killercoda.com/playgrounds/scenario/ubuntu), ss, nmap, /etc/services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table lists all 16 protocols with the correct port, transport and purpose; every insecure protocol has its secure replacement named; and ss -tulnp output confirms at least one live listening socket with its transport.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Open the playground</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real Ubuntu terminal, root access, in the browser</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Install the tools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Refresh the package index, then add the net tools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port list</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Confirm each protocol in the services database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Prove the transport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dig shows DNS over UDP; curl confirms HTTP and HTTPS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List live sockets</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ss -tulnp shows what is listening and on which port</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the TCP/UDP ports, transport protocol and secure replacement for every protocol on the CompTIA A+ Core 1 objective 2.1 list.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Protocols and Ports — Building the A+ Port Reference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table lists all 16 protocols with the correct port, transport and purpose; every insecure protocol has its secure replacement named; and ss -tulnp output confirms at least one live listening socket with its transport.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IPv4 Subnetting and Address Planning with IP Calculator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Calculate subnet masks, network and broadcast addresses, usable host ranges and CIDR notation, and design an address plan for a SOHO network (Core 1 objective 2.5).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use IP Calculator to work subnetting from both directions — decoding a given address and designing a plan to meet a host requirement — then verify every result by hand so you can reproduce it in an exam where no calculator is allowed.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verified subnetting worksheet and a complete four-subnet SOHO address plan exported as CSV.</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Calculator (https://alfredang.github.io/ipcalculator/), Killercoda Ubuntu Playground, ipcalc</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subnet in your plan satisfies its host requirement with no wasted block larger than necessary, the hand calculation matches the IP Calculator output for the /26 case, ipcalc agrees with the browser tool, and the CSV export contains all four subnets.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Decode an address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Enter 192.168.10.75/24 and read the full breakdown</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Change the prefix</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Watch network, broadcast and host count change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it by hand</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32 minus 26 gives 6 host bits, 64 block, 62 usable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Plan four subnets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Smallest prefix that meets 50, 25, 10 and 5 hosts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Export and confirm</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Batch to CSV, then cross-check with ipcalc</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Calculate subnet masks, network and broadcast addresses, usable host ranges and CIDR notation, and design an address plan for a SOHO network (Core 1 objective 2.5).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IPv4 Subnetting and Address Planning with IP Calculator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subnet in your plan satisfies its host requirement with no wasted block larger than necessary, the hand calculation matches the IP Calculator output for the /26 case, ipcalc agrees with the browser tool, and the CSV export contains all four subnets.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Network Devices and Traffic Behaviour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Distinguish hub, switch, router, firewall and access point by the layer they operate at and the traffic behaviour each produces (Core 1 objectives 2.2 and 2.3).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Rather than reading device descriptions, you infer device behaviour from captured traffic. Using PCAP Analyzer you examine a capture, identify the MAC and IP conversations, and reason about which device forwarded each frame and why.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device comparison matrix and a written traffic analysis identifying the forwarding decision at each layer.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PCAP Analyzer (https://alfredang.github.io/pcapanalyzer/), device reference diagrams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matrix correctly assigns each of the five devices to its OSI layer and forwarding basis; your analysis names the specific MAC and IP addresses observed; and the conclusion is supported by evidence from the capture rather than from theory alone.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Load a capture</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Click Sample; parsing happens in your own browser</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headline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Packets, bytes, duration and average packet size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Split by protocol</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Record each protocol and its share of the capture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Follow the talkers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Top conversations show which pair to investigate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Place each device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Hub, switch, router, firewall and AP by OSI layer</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Distinguish hub, switch, router, firewall and access point by the layer they operate at and the traffic behaviour each produces (Core 1 objectives 2.2 and 2.3).</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Network Devices and Traffic Behaviour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matrix correctly assigns each of the five devices to its OSI layer and forwarding basis; your analysis names the specific MAC and IP addresses observed; and the conclusion is supported by evidence from the capture rather than from theory alone.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Wireless Standards, Channel Planning and Interference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Compare 802.11 standards and frequency bands, and design a channel plan that avoids co-channel and adjacent-channel interference (Core 1 objective 2.3).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compare the 2.4 GHz and 5 GHz bands on the criteria that decide real deployments, then design a channel plan for a three-access-point office and justify every channel choice against the non-overlapping channel constraint.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802.11 standards comparison table and a justified three-AP channel plan with a coverage sketch.</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Wi-Fi analyser application on a mobile device or laptop, 802.11 standards reference, floor plan sketch</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channel plan uses only channels 1, 6 and 11 in the 2.4 GHz band with no adjacent cells sharing a channel; the scan records real SSIDs with channel and dBm; and the justification correctly distinguishes co-channel from adjacent-channel interference.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Table the standards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802.11a through ax on band, speed and width</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Scan the air</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Record every SSID with its channel and dBm</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strength</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-50 excellent, -60 good, -70 usable, -80 unreliable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Plan three cells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Assign 1, 6 and 11 so no neighbours share a channel</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Justify the plan</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Separate co-channel from adjacent-channel interference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Compare 802.11 standards and frequency bands, and design a channel plan that avoids co-channel and adjacent-channel interference (Core 1 objective 2.3).</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Wireless Standards, Channel Planning and Interference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channel plan uses only channels 1, 6 and 11 in the 2.4 GHz band with no adjacent cells sharing a channel; the scan records real SSIDs with channel and dBm; and the justification correctly distinguishes co-channel from adjacent-channel interference.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SOHO Network Configuration — DHCP, DNS, NAT and Port Forwarding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 SOHO router including DHCP scope, DNS, NAT, DHCP reservations and port forwarding, and verify each service from a client (Core 1 objective 2.5).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configure the full service set a SOHO router provides, then verify each one from a client using the command line. Where physical hardware is unavailable you use the Killercoda playground to inspect and reason about the same configuration from the client side.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documented SOHO configuration with DHCP scope, reservation, DNS and port-forwarding rule, each verified from a client.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SOHO router or router emulator, Killercoda Ubuntu Playground, IP Calculator, ipconfig/ip, nslookup/dig</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client receives an address inside the DHCP scope and outside the exclusion range, the reservation returns the same address after a release and renew, DNS resolves successfully through the configured resolver, and the port-forwarding rule is documented with its security risk stated.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Plan the addressing</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Gateway, static block and DHCP scope before you start</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Set the DHCP scope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Range, lease and an exclusion for the static block</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Reserve by MAC</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The printer always receives the same address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Verify from a client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Release, renew, then read address, gateway and DNS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Forward a port</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Document the rule and state the security risk</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 SOHO router including DHCP scope, DNS, NAT, DHCP reservations and port forwarding, and verify each service from a client (Core 1 objective 2.5).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SOHO Network Configuration — DHCP, DNS, NAT and Port Forwarding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client receives an address inside the DHCP scope and outside the exclusion range, the reservation returns the same address after a release and renew, DNS resolves successfully through the configured resolver, and the port-forwarding rule is documented with its security risk stated.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Network Cabling — Termination, Testing and Tool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Terminate twisted-pair cable to T568B, test it end to end, and select the correct tool for each cabling task (Core 1 objectives 2.3 and 3.1).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terminate a patch cable to the T568B standard, test it with a cable tester, and deliberately create a fault to see how the tester reports it. You then build a tool selection guide matching each networking tool to the single question it answers.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terminated and tested patch cable, a fault-injection test record, and a tool selection guide.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Crimper, RJ45 plugs, Cat 5e/6 cable, cable stripper, cable tester, toner probe, punch-down tool, loopback plug</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good cable passes the tester with all eight lights in sequence on both ends; the two faulty cables produce distinctly different tester results that you have recorded; and the tool guide matches all seven tools to the specific question each answers.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Recall T568B</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Write the eight-wire colour order before you cut</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Strip and order</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25 mm of jacket, conductors flat in T568B order</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Crimp both ends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Same standard both ends makes a straight-through cable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Test the pinout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All eight lights advance in sequence on both units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Inject a fault</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Swap a pair, then leave one open, and compare results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Terminate twisted-pair cable to T568B, test it end to end, and select the correct tool for each cabling task (Core 1 objectives 2.3 and 3.1).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Network Cabling — Termination, Testing and Tool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good cable passes the tester with all eight lights in sequence on both ends; the two faulty cables produce distinctly different tester results that you have recorded; and the tool guide matches all seven tools to the specific question each answers.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Packet Capture Analysis — Reading Real Network Traffic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Analyse a packet capture to identify protocols, conversations and anomalies, and use the evidence to support a network diagnosis (Core 1 objectives 2.1 and 5.7).</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work a capture the way a support engineer does: start from the summary statistics, narrow by protocol, follow the largest conversation, and read individual packets only once you know which ones matter. The output is a written diagnosis supported by named evidence.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written traffic analysis report with protocol breakdown, conversation analysis and a supported diagnosis.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PCAP Analyzer (https://alfredang.github.io/pcapanalyzer/), Killercoda Ubuntu Playground, tcpdump</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tcpdump produces a capture file containing at least three distinct protocols, PCAP Analyzer loads it and reports the protocol distribution, and your written diagnosis cites specific addresses, ports and packet numbers as evidence rather than general statements.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Capture live traffic</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tcpdump writes 200 packets to a file on the playground</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Generate the traffic</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curl and a DNS lookup give several protocols to read</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Load the analyser</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Drag the file in, or use Sample if download is blocked</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mix</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Protocol distribution shows what is encrypted and what is not</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Write the diagnosis</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Cite specific addresses, ports and packet numbers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Analyse a packet capture to identify protocols, conversations and anomalies, and use the evidence to support a network diagnosis (Core 1 objectives 2.1 and 5.7).</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Packet Capture Analysis — Reading Real Network Traffic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tcpdump produces a capture file containing at least three distinct protocols, PCAP Analyzer loads it and reports the protocol distribution, and your written diagnosis cites specific addresses, ports and packet numbers as evidence rather than general statements.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RECAP · 23%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Identify the TCP/UDP ports, transport protocol and secure replacement for every protocol on the CompTIA A+ Core 1 objective 2.1 list.</a:t>
            </a:r>
          </a:p>
          <a:p>
            <a:pPr>
              <a:spcAft>
                <a:spcPts val="1000"/>
              </a:spcAft>
            </a:pPr>
            <a:r>
              <a:rPr sz="1500" b="0">
                <a:solidFill>
                  <a:srgbClr val="161B26"/>
                </a:solidFill>
                <a:latin typeface="Arial"/>
              </a:rPr>
              <a:t>•  You can now: Calculate subnet masks, network and broadcast addresses, usable host ranges and CIDR notation, and design an address plan for a SOHO network (Core 1 objective 2.5).</a:t>
            </a:r>
          </a:p>
          <a:p>
            <a:pPr>
              <a:spcAft>
                <a:spcPts val="1000"/>
              </a:spcAft>
            </a:pPr>
            <a:r>
              <a:rPr sz="1500" b="0">
                <a:solidFill>
                  <a:srgbClr val="161B26"/>
                </a:solidFill>
                <a:latin typeface="Arial"/>
              </a:rPr>
              <a:t>•  You can now: Distinguish hub, switch, router, firewall and access point by the layer they operate at and the traffic behaviour each produces (Core 1 objectives 2.2 and 2.3).</a:t>
            </a:r>
          </a:p>
          <a:p>
            <a:pPr>
              <a:spcAft>
                <a:spcPts val="1000"/>
              </a:spcAft>
            </a:pPr>
            <a:r>
              <a:rPr sz="1500" b="0">
                <a:solidFill>
                  <a:srgbClr val="161B26"/>
                </a:solidFill>
                <a:latin typeface="Arial"/>
              </a:rPr>
              <a:t>•  You can now: Compare 802.11 standards and frequency bands, and design a channel plan that avoids co-channel and adjacent-channel interference (Core 1 objective 2.3).</a:t>
            </a:r>
          </a:p>
          <a:p>
            <a:pPr>
              <a:spcAft>
                <a:spcPts val="1000"/>
              </a:spcAft>
            </a:pPr>
            <a:r>
              <a:rPr sz="1500" b="0">
                <a:solidFill>
                  <a:srgbClr val="161B26"/>
                </a:solidFill>
                <a:latin typeface="Arial"/>
              </a:rPr>
              <a:t>•  You can now: Configure a SOHO router including DHCP scope, DNS, NAT, DHCP reservations and port forwarding, and verify each service from a client (Core 1 objective 2.5).</a:t>
            </a:r>
          </a:p>
          <a:p>
            <a:pPr>
              <a:spcAft>
                <a:spcPts val="1000"/>
              </a:spcAft>
            </a:pPr>
            <a:r>
              <a:rPr sz="1500" b="0">
                <a:solidFill>
                  <a:srgbClr val="161B26"/>
                </a:solidFill>
                <a:latin typeface="Arial"/>
              </a:rPr>
              <a:t>•  You can now: Terminate twisted-pair cable to T568B, test it end to end, and select the correct tool for each cabling task (Core 1 objectives 2.3 and 3.1).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advClick="1">
    <p:push dir="l"/>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Hardware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Cables and connectors · RAM · storage and RAID · motherboards · CPUs and cooling · power supplies · printers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advClick="1">
    <p:push dir="l"/>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1  ·  25%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03 at a Glance — Hardware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25% of Core 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13%</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12, Lab 13, Lab 14, Lab 15, Lab 16, Lab 17, Lab 18</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Cables and connectors · RAM · storage and RAID · motherboards · CPUs and cooling · power supplies · printers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25%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Hardware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Copper cable carries electrical signals and is cheap and easy to terminate but is limited to about 100 metres per run and is susceptible to electromagnetic interference. Fibre carries light, is immune to EMI, and reaches tens of kilometres at far higher speeds.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Twisted-pair categories set the speed ceiling: Cat 5e carries 1 Gbps, Cat 6 carries 10 Gbps to 55 m, and Cat 6a carries 10 Gbps to the full 100 m. Shielded twisted pair adds a foil or braid screen for use near motors and fluorescent lighting.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T568A and T568B are the two RJ45 pinouts. Matching both ends makes a straight-through patch cable; using A at one end and B at the other makes a crossover. Modern switch ports auto-negotiate with Auto-MDIX, so crossover cables are now rare.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Display connectors differ in what they can carry. HDMI and DisplayPort carry digital video and audio, DVI carries digital and sometimes analog video only, and VGA is analog only. A passive adapter can change the plug shape but can never convert analog to digital.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advClick="1">
    <p:push dir="l"/>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25%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Hardware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RAM comes as DIMMs in desktops and SODIMMs in laptops, and DDR generations are physically keyed so they cannot be mixed. Populating channels in matched pairs enables dual-channel mode and measurably improves memory bandwidth.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ECC memory detects and corrects single-bit errors, which makes a server more stable but not faster. It requires a CPU and motherboard that explicitly support it, and it cannot be mixed with non-ECC modules.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Storage is chosen on the trade-off between cost and speed. A hard disk drive gives the lowest cost per terabyte but has moving parts, a SATA SSD is far faster with no moving parts, and an NVMe M.2 drive on PCIe lanes is faster still.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RAID trades disks for speed or safety. RAID 0 stripes for speed with no redundancy, RAID 1 mirrors for redundancy, RAID 5 stripes with distributed parity and survives one disk failure, and RAID 10 mirrors then stripes for both speed and redundancy.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advClick="1">
    <p:push dir="l"/>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25%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Hardware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Motherboard form factors — ATX, micro-ATX, Mini-ITX — set the physical size and how many expansion slots are available. The chipset and CPU socket together decide which processors, memory types and features the board supports.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BIOS/UEFI firmware initialises hardware and starts the boot process; CMOS backed by a coin cell stores the settings. A clock that resets to a default date on every boot is the classic sign of a dead CMOS battery.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Trusted Platform Module is a hardware chip that generates and stores cryptographic keys, and it is what BitLocker binds a drive to so the disk cannot simply be moved to another machine and read.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power supply must be sized on total wattage and must supply the right connectors — 24-pin ATX for the board, EPS 4/8-pin for the CPU, PCIe 6/8-pin for the graphics card, and SATA power for drives.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advClick="1">
    <p:push dir="l"/>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25%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Hardware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The laser printing process runs in a fixed seven-step order — processing, charging, exposing, developing, transferring, fusing and cleaning — and knowing the order is what lets you turn a print defect into a specific failed component.</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Printer types suit different jobs: laser for fast, low-cost mono volume, inkjet for affordable colour, impact for multi-part carbon forms, thermal for receipts, and 3D printers using FDM filament or SLA resin for prototyping.</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advClick="1">
    <p:push dir="l"/>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Hardware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12–14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Cables and Connectors — Identification and Selection</a:t>
            </a:r>
          </a:p>
          <a:p>
            <a:pPr>
              <a:spcAft>
                <a:spcPts val="900"/>
              </a:spcAft>
            </a:pPr>
            <a:r>
              <a:rPr sz="1400" b="0">
                <a:solidFill>
                  <a:srgbClr val="161B26"/>
                </a:solidFill>
                <a:latin typeface="Arial"/>
              </a:rPr>
              <a:t>•  RAM Identification, Installation and Channel Configuration</a:t>
            </a:r>
          </a:p>
          <a:p>
            <a:pPr>
              <a:spcAft>
                <a:spcPts val="900"/>
              </a:spcAft>
            </a:pPr>
            <a:r>
              <a:rPr sz="1400" b="0">
                <a:solidFill>
                  <a:srgbClr val="161B26"/>
                </a:solidFill>
                <a:latin typeface="Arial"/>
              </a:rPr>
              <a:t>•  Storage Devices and RAID Level Selection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15–17</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Motherboard, BIOS/UEFI and CMOS Configuration</a:t>
            </a:r>
          </a:p>
          <a:p>
            <a:pPr>
              <a:spcAft>
                <a:spcPts val="900"/>
              </a:spcAft>
            </a:pPr>
            <a:r>
              <a:rPr sz="1400" b="0">
                <a:solidFill>
                  <a:srgbClr val="161B26"/>
                </a:solidFill>
                <a:latin typeface="Arial"/>
              </a:rPr>
              <a:t>•  CPU Architecture, Sockets and Cooling Solutions</a:t>
            </a:r>
          </a:p>
          <a:p>
            <a:pPr>
              <a:spcAft>
                <a:spcPts val="900"/>
              </a:spcAft>
            </a:pPr>
            <a:r>
              <a:rPr sz="1400" b="0">
                <a:solidFill>
                  <a:srgbClr val="161B26"/>
                </a:solidFill>
                <a:latin typeface="Arial"/>
              </a:rPr>
              <a:t>•  Power Supply Sizing, Connectors and Safety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18</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Printer Installation, Configuration and the Laser Imaging Process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Cables and Connectors — Identification and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every cable and connector on the A+ objective list by sight and select the correct one for a stated requirement (Core 1 objectives 3.1 and 3.2).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identify cables and connectors from physical samples or high-resolution references, record the specification that limits each one, and then solve a set of selection scenarios where choosing the wrong cable would fail. The output is a selection guide organised by the question it answers.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cable and connector identification table and a solved set of eight selection scenarios.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Cable and connector samples or reference images, specification sheets, measuring tape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identification table covers at least 20 connectors with speed and distance limits; every scenario answer names a specific cable or connector and justifies it against a stated limit rather than a preference.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Table the connectors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Name, media, speed, distance and typical use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Group by purpose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Network, video, peripheral and storage families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Record the limits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Cat 5e 1 Gbps, Cat 6a 10 Gbps to a 100 m maximum</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Solve the scenarios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120 m run, EMI-heavy route, analog to digital</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Build the guide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Organised by how far, how fast, and does it carry power</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every cable and connector on the A+ objective list by sight and select the correct one for a stated requirement (Core 1 objectives 3.1 and 3.2).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Cables and Connectors — Identification and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identification table covers at least 20 connectors with speed and distance limits; every scenario answer names a specific cable or connector and justifies it against a stated limit rather than a preference.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RAM Identification, Installation and Channel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RAM types and form factors, install modules correctly and configure dual-channel operation, verifying the result in firmware and the OS (Core 1 objective 3.3).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identify memory by its physical keying and label, install modules into the correct slots for dual-channel operation, and then verify from both firmware and the operating system that the configuration took effect. You also read a module label the way a technician ordering a replacement must.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RAM specification decode, a verified dual-channel installation and a memory upgrade recommendation for a stated workload.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Training PC or laptop, DIMM and SODIMM modules, anti-static strap, Task Manager, CPU-Z or equivalent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system POSTs and reports the full installed capacity, Task Manager confirms the correct speed and slot usage, dual channel is confirmed in firmware, and your upgrade recommendation names a specific module that the chipset actually supports.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Earth and open</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Strap on, power removed, discharge before touching RAM</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label</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Capacity, DDR generation, speed, CAS latency and ECC</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the key</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The notch proves DDR3, DDR4 and DDR5 cannot be mixed</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Fill the channel pair</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Matched modules in the colour-matched slots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Verify in firmware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BIOS and Task Manager confirm speed and dual channel</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RAM types and form factors, install modules correctly and configure dual-channel operation, verifying the result in firmware and the OS (Core 1 objective 3.3).</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RAM Identification, Installation and Channel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system POSTs and reports the full installed capacity, Task Manager confirms the correct speed and slot usage, dual channel is confirmed in firmware, and your upgrade recommendation names a specific module that the chipset actually supports.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Storage Devices and RAID Level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Compare HDD, SSD, NVMe and hybrid storage, and select the correct RAID level for a stated capacity, performance and redundancy requirement (Core 1 objectives 3.3 and 3.4).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compare storage technologies on the trade-offs that decide real purchases, then work a set of RAID selection scenarios where the wrong level means either lost data or wasted money. You finish by calculating usable capacity and fault tolerance for each level.</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storage comparison table, a RAID capacity and fault-tolerance calculation sheet, and four justified RAID selections.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Storage device samples or references, Killercoda Ubuntu Playground, lsblk, RAID reference diagrams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capacity calculations for four 2 TB disks are correct for all four RAID levels, every scenario selection is justified against the stated requirement, and the comparison table correctly ranks the four storage types on speed and cost per terabyte.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Compare the media</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HDD, SATA SSD, NVMe and SSHD on speed and cost</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Explain the interface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NVMe runs on PCIe lanes, not the SATA controller</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Inspect the devices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lsblk and df show size, type and free capacity</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Calculate the RAID</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Four 2 TB disks give 8, 4, 6 and 4 TB usable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Select for the case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Match level to capacity, speed and fault tolerance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Compare HDD, SSD, NVMe and hybrid storage, and select the correct RAID level for a stated capacity, performance and redundancy requirement (Core 1 objectives 3.3 and 3.4).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Storage Devices and RAID Level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capacity calculations for four 2 TB disks are correct for all four RAID levels, every scenario selection is justified against the stated requirement, and the comparison table correctly ranks the four storage types on speed and cost per terabyte.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Motherboard, BIOS/UEFI and CMOS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motherboard form factors, expansion slots and headers, and configure BIOS/UEFI settings including boot order, virtualization support, Secure Boot and TPM (Core 1 objectives 3.4 and 3.5).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map a motherboard component by component, then enter firmware and configure the settings that matter in support work — boot order, virtualization support, Secure Boot and the TPM — recording where each lives so you can find it again on an unfamiliar board.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annotated motherboard map and a documented BIOS/UEFI configuration record with the menu path for each setting.</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Training PC, motherboard reference or physical board, BIOS/UEFI setup utility, msinfo32</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msinfo32 reports the expected BIOS mode and Secure Boot state, virtualization support is enabled and confirmed, and your configuration record gives the exact menu path for boot order, virtualization, Secure Boot and TPM.</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Identify the board</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Form factor from its dimensions and mounting holes</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Label the sockets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CPU socket, memory slots, PCIe slots and M.2</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Find the power inputs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24-pin ATX and the EPS connector for the CPU</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Enter the firmware</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Record the key, then the boot order menu path</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Enable and verify</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Virtualization, Secure Boot and TPM, confirmed in msinfo32</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motherboard form factors, expansion slots and headers, and configure BIOS/UEFI settings including boot order, virtualization support, Secure Boot and TPM (Core 1 objectives 3.4 and 3.5).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Motherboard, BIOS/UEFI and CMOS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msinfo32 reports the expected BIOS mode and Secure Boot state, virtualization support is enabled and confirmed, and your configuration record gives the exact menu path for boot order, virtualization, Secure Boot and TPM.</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CPU Architecture, Sockets and Cooling Solutions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Compare CPU architectures, socket types and cooling solutions, and diagnose thermal problems from observed behaviour (Core 1 objectives 3.4 and 5.2).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compare x86-64 and ARM on the criteria that decide platform choice, match processors to sockets, and then work the thermal chain from paste to airflow — because most CPU problems in the field are thermal rather than electrical.</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CPU and socket compatibility matrix, a cooling comparison, and a thermal fault diagnostic sequence.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Training PC, CPU and cooler samples or references, thermal paste, Task Manager, hardware monitoring utility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Task Manager confirms the core and logical processor counts and the virtualization state; your diagnostic sequence orders the checks from cheapest to most invasive; and the temperature record supports a stated conclusion about cooling adequacy.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Compare architectures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x86-64 against ARM on power, heat and compatibility</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Match socket types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LGA, PGA and soldered BGA in mobile devices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CPU</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Cores, logical processors, speed and virtualization state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Explain throttling</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Clock drops to protect the silicon when it runs too hot</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Diagnose the thermals</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Fans, dust, seating, paste, then ambient airflow</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Compare CPU architectures, socket types and cooling solutions, and diagnose thermal problems from observed behaviour (Core 1 objectives 3.4 and 5.2).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CPU Architecture, Sockets and Cooling Solutions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Task Manager confirms the core and logical processor counts and the virtualization state; your diagnostic sequence orders the checks from cheapest to most invasive; and the temperature record supports a stated conclusion about cooling adequacy.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Power Supply Sizing, Connectors and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Select a power supply by wattage, form factor, efficiency and connector complement, and apply electrical safety rules when working with power (Core 1 objectives 3.5 and 4.5).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calculate the wattage a build actually requires, select a supply with the right connectors and headroom, and record the safety rules that apply. The safety section is not optional background — a power supply retains a lethal charge after disconnection.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power budget calculation, a justified PSU selection with connector checklist, and a written electrical safety procedure.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PSU samples or specification sheets, PSU wattage calculator, training PC, multimeter (demonstration only)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power budget sums every component and adds stated headroom, the selected supply provides every connector the build requires, and the safety procedure explicitly forbids opening the PSU and requires discharge before internal work.</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State the safety rule</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Never open a PSU — its capacitors hold a lethal charge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Budget the wattage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Sum peak draw, then add 30 percent headroom</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List the connectors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24-pin, EPS, PCIe and SATA power for every device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Match form and tier</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ATX or SFX to the case; 80 PLUS efficiency tier</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Justify the choice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Wattage defended against the calculated budget</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Select a power supply by wattage, form factor, efficiency and connector complement, and apply electrical safety rules when working with power (Core 1 objectives 3.5 and 4.5).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Power Supply Sizing, Connectors and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power budget sums every component and adds stated headroom, the selected supply provides every connector the build requires, and the safety procedure explicitly forbids opening the PSU and requires discharge before internal work.</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Printer Installation, Configuration and the Laser Imaging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Install and share a printer, configure its settings and security, and map each stage of the laser imaging process to the print defect its failure produces (Core 1 objectives 3.6 and 3.7).</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install and share a printer, configure the settings users actually ask about, then learn the seven-step laser process in order — because knowing the order is exactly what converts a print defect into a named failed component.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configured and shared printer, a printer settings reference, and a laser process defect map linking each stage to its symptom.</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Printer or printer emulator, Windows print management, laser printer reference diagram, PCL/PostScript drivers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printer prints a test page and is shared successfully, your defect map correctly links at least four print defects to the specific laser stage that failed, and the safety rules include the toner vacuum and hot fuser warnings.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Site and connect</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Clearance, power and the right data connection</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Install the driver</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PCL or PostScript, then print a test page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Configure and share</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Duplex, tray, quality, then sharing and security</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Learn the seven stages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Process, charge, expose, develop, transfer, fuse, clean</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Map defect to stage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Lines to the drum, smudging to the fuser, ghosting to cleaning</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Install and share a printer, configure its settings and security, and map each stage of the laser imaging process to the print defect its failure produces (Core 1 objectives 3.6 and 3.7).</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Printer Installation, Configuration and the Laser Imaging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printer prints a test page and is shared successfully, your defect map correctly links at least four print defects to the specific laser stage that failed, and the safety rules include the toner vacuum and hot fuser warnings.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RECAP · 25%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Hardware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Identify every cable and connector on the A+ objective list by sight and select the correct one for a stated requirement (Core 1 objectives 3.1 and 3.2).</a:t>
            </a:r>
          </a:p>
          <a:p>
            <a:pPr>
              <a:spcAft>
                <a:spcPts val="1000"/>
              </a:spcAft>
            </a:pPr>
            <a:r>
              <a:rPr sz="1500" b="0">
                <a:solidFill>
                  <a:srgbClr val="161B26"/>
                </a:solidFill>
                <a:latin typeface="Arial"/>
              </a:rPr>
              <a:t>•  You can now: Identify RAM types and form factors, install modules correctly and configure dual-channel operation, verifying the result in firmware and the OS (Core 1 objective 3.3).</a:t>
            </a:r>
          </a:p>
          <a:p>
            <a:pPr>
              <a:spcAft>
                <a:spcPts val="1000"/>
              </a:spcAft>
            </a:pPr>
            <a:r>
              <a:rPr sz="1500" b="0">
                <a:solidFill>
                  <a:srgbClr val="161B26"/>
                </a:solidFill>
                <a:latin typeface="Arial"/>
              </a:rPr>
              <a:t>•  You can now: Compare HDD, SSD, NVMe and hybrid storage, and select the correct RAID level for a stated capacity, performance and redundancy requirement (Core 1 objectives 3.3 and 3.4).</a:t>
            </a:r>
          </a:p>
          <a:p>
            <a:pPr>
              <a:spcAft>
                <a:spcPts val="1000"/>
              </a:spcAft>
            </a:pPr>
            <a:r>
              <a:rPr sz="1500" b="0">
                <a:solidFill>
                  <a:srgbClr val="161B26"/>
                </a:solidFill>
                <a:latin typeface="Arial"/>
              </a:rPr>
              <a:t>•  You can now: Identify motherboard form factors, expansion slots and headers, and configure BIOS/UEFI settings including boot order, virtualization support, Secure Boot and TPM (Core 1 objectives 3.4 and 3.5).</a:t>
            </a:r>
          </a:p>
          <a:p>
            <a:pPr>
              <a:spcAft>
                <a:spcPts val="1000"/>
              </a:spcAft>
            </a:pPr>
            <a:r>
              <a:rPr sz="1500" b="0">
                <a:solidFill>
                  <a:srgbClr val="161B26"/>
                </a:solidFill>
                <a:latin typeface="Arial"/>
              </a:rPr>
              <a:t>•  You can now: Compare CPU architectures, socket types and cooling solutions, and diagnose thermal problems from observed behaviour (Core 1 objectives 3.4 and 5.2).</a:t>
            </a:r>
          </a:p>
          <a:p>
            <a:pPr>
              <a:spcAft>
                <a:spcPts val="1000"/>
              </a:spcAft>
            </a:pPr>
            <a:r>
              <a:rPr sz="1500" b="0">
                <a:solidFill>
                  <a:srgbClr val="161B26"/>
                </a:solidFill>
                <a:latin typeface="Arial"/>
              </a:rPr>
              <a:t>•  You can now: Select a power supply by wattage, form factor, efficiency and connector complement, and apply electrical safety rules when working with power (Core 1 objectives 3.5 and 4.5).</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advClick="1">
    <p:push dir="l"/>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Virtualization and Cloud Computing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Hypervisors · virtual machines · resource requirements · cloud models · shared resources and metered use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advClick="1">
    <p:push dir="l"/>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1  ·  11%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Topic 04 at a Glance — Virtualization and Cloud Computing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11% of Core 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6%</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19, Lab 20, Lab 21</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Hypervisors · virtual machines · resource requirements · cloud models · shared resources and metered use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11%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Virtualization and Cloud Computing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Virtualization runs several operating systems on one physical machine through a hypervisor, cutting hardware cost, power and rack space while letting you snapshot and roll back a whole machine in seconds.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Type 1 (bare-metal) hypervisor such as ESXi or Hyper-V runs directly on the hardware and is used in data centres. A Type 2 (hosted) hypervisor such as VirtualBox or VMware Workstation runs as an application on top of a desktop OS.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Each virtual machine needs the same resources a physical machine would — its own vCPU allocation, RAM, disk and network adapter. Over-committing RAM across many VMs is the most common cause of a host grinding to a halt.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Hardware virtualization support (Intel VT-x or AMD-V) must be enabled in BIOS/UEFI before a 64-bit guest will start. A hypervisor refusing to launch a VM is very often this setting rather than a software fault.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advClick="1">
    <p:push dir="l"/>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11%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Virtualization and Cloud Computing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Virtual desktop infrastructure hosts user desktops centrally and streams them to thin clients, which simplifies patching and secures data by keeping it in the data centre rather than on the endpoint.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Cloud characteristics that define the model are shared resources, rapid elasticity, high availability, file synchronisation and metered utilisation — you pay for what you consume rather than for the capacity you provisioned.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Deployment models describe who owns the infrastructure: public cloud is shared multi-tenant, private cloud is dedicated to one organisation, community cloud is shared by organisations with common requirements, and hybrid cloud spans private and public.</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Service models describe how much you manage. With IaaS you manage the OS and everything above it, with PaaS you manage only your application and data, and with SaaS the provider manages everything and you simply use the software.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advClick="1">
    <p:push dir="l"/>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Virtualization and Cloud Computing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19</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Hypervisor Types and Virtual Machine Resource Planning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Building and Configuring a Linux Virtual Machine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21</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Cloud Service and Deployment Model Selection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Hypervisor Types and Virtual Machine Resource Planning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Distinguish Type 1 from Type 2 hypervisors, plan virtual machine resource allocation and identify the firmware prerequisite for virtualization (Core 1 objective 4.2).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compare the two hypervisor types on where they run and what they are for, verify that hardware virtualization support is enabled, then plan resource allocation for several VMs on one host — the calculation that decides whether a host performs or crawls.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hypervisor comparison table, a verified virtualization-enabled host and a resource allocation plan for four VMs.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host, Task Manager, systeminfo, BIOS/UEFI, VirtualBox or Hyper-V, hypervisor references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Virtualization support is confirmed enabled on the host, your allocation plan's total RAM leaves at least 4 GB for the host, and every VM is allocated at or above its guest OS minimum with the margin stated.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Separate the types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Type 1 on bare metal, Type 2 on a host OS</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Explain the overhead</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No host OS means no competing scheduler</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the firmware</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VT-x or AMD-V must be on or no 64-bit guest starts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Measure the host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Cores, total RAM and free disk before allocating</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Allocate and check</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Leave at least 4 GB for the host after all four VMs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Distinguish Type 1 from Type 2 hypervisors, plan virtual machine resource allocation and identify the firmware prerequisite for virtualization (Core 1 objective 4.2).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Hypervisor Types and Virtual Machine Resource Planning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Virtualization support is confirmed enabled on the host, your allocation plan's total RAM leaves at least 4 GB for the host, and every VM is allocated at or above its guest OS minimum with the margin stated.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Building and Configuring a Linux Virtual Machine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Provision, configure and verify a Linux virtual machine, and perform the post-installation tasks a technician must complete on any new guest (Core 1 objective 4.2).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provision a working Linux environment and complete the full post-installation checklist — updates, networking, users, storage and a snapshot — using the Killercoda Ubuntu playground so that no local install or licence is required and every learner gets an identical environment.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configured Linux environment with verified networking, a created user, installed packages and a documented build record.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Playground (https://killercoda.com/playgrounds/scenario/ubuntu)</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OS version and resources are recorded, updates complete without error, ping and dig both succeed, the aplus user exists in the sudo group, and the labs directory tree is owned by aplus rather than root.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Open the playground</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real Ubuntu machine with root, in a browser tab</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Identify the guest</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Distribution, version, kernel and architecture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Patch and install</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Update the index, upgrade, then add the tool set</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Verify the network</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Addresses, default route, resolvers, ping and dig</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Create a user</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Standard account plus sudo, owning its own directories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Provision, configure and verify a Linux virtual machine, and perform the post-installation tasks a technician must complete on any new guest (Core 1 objective 4.2).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Building and Configuring a Linux Virtual Machine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OS version and resources are recorded, updates complete without error, ping and dig both succeed, the aplus user exists in the sudo group, and the labs directory tree is owned by aplus rather than root.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 Service and Deployment Model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Compare IaaS, PaaS and SaaS and the public, private, community and hybrid deployment models, and select the correct combination for a stated business requirement (Core 1 objective 4.1).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build the responsibility matrix that separates the three service models, compare the four deployment models on the concerns that decide them, and then solve selection scenarios where the wrong choice creates either a compliance breach or an unnecessary cost.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shared-responsibility matrix, a deployment model comparison and six justified service and deployment selections.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Cloud provider documentation, IaaS/PaaS/SaaS reference material, organisational scenario briefs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responsibility matrix correctly divides all nine layers across on-premises, IaaS, PaaS and SaaS; every scenario names both a service model and a deployment model; and each justification cites the specific requirement that ruled the alternatives out.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Build the matrix</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Nine layers across on-premises, IaaS, PaaS and SaaS</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Place the boundary</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Who manages the OS, the runtime and the application</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Compare deployments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Public, private, community and hybrid on control and cost</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Recall the traits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Shared, elastic, available, synchronised and metered</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Select per scenario</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Name both a service and a deployment model, and justify</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Compare IaaS, PaaS and SaaS and the public, private, community and hybrid deployment models, and select the correct combination for a stated business requirement (Core 1 objective 4.1).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 Service and Deployment Model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responsibility matrix correctly divides all nine layers across on-premises, IaaS, PaaS and SaaS; every scenario names both a service model and a deployment model; and each justification cites the specific requirement that ruled the alternatives out.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RECAP · 11%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Virtualization and Cloud Computing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Distinguish Type 1 from Type 2 hypervisors, plan virtual machine resource allocation and identify the firmware prerequisite for virtualization (Core 1 objective 4.2).</a:t>
            </a:r>
          </a:p>
          <a:p>
            <a:pPr>
              <a:spcAft>
                <a:spcPts val="1000"/>
              </a:spcAft>
            </a:pPr>
            <a:r>
              <a:rPr sz="1500" b="0">
                <a:solidFill>
                  <a:srgbClr val="161B26"/>
                </a:solidFill>
                <a:latin typeface="Arial"/>
              </a:rPr>
              <a:t>•  You can now: Provision, configure and verify a Linux virtual machine, and perform the post-installation tasks a technician must complete on any new guest (Core 1 objective 4.2).</a:t>
            </a:r>
          </a:p>
          <a:p>
            <a:pPr>
              <a:spcAft>
                <a:spcPts val="1000"/>
              </a:spcAft>
            </a:pPr>
            <a:r>
              <a:rPr sz="1500" b="0">
                <a:solidFill>
                  <a:srgbClr val="161B26"/>
                </a:solidFill>
                <a:latin typeface="Arial"/>
              </a:rPr>
              <a:t>•  You can now: Compare IaaS, PaaS and SaaS and the public, private, community and hybrid deployment models, and select the correct combination for a stated business requirement (Core 1 objective 4.1).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advClick="1">
    <p:push dir="l"/>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Hardware and Network Troubleshooting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The CompTIA troubleshooting methodology · POST and boot faults · storage and RAID · display faults · printer and network symptoms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advClick="1">
    <p:push dir="l"/>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1  ·  28%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Topic 05 at a Glance — Hardware and Network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28% of Core 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15%</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22, Lab 23, Lab 24, Lab 25, Lab 26, Lab 27, Lab 28</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The CompTIA troubleshooting methodology · POST and boot faults · storage and RAID · display faults · printer and network symptoms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28%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Hardware and Network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The CompTIA six-step methodology is examinable in order: identify the problem, establish a theory of probable cause, test the theory to determine the cause, establish a plan of action and implement the solution, verify full system functionality and implement preventive measures, then document findings, actions and outcomes.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Always question the obvious first and ask what changed. Most faults in the field are a recent change — a new driver, a moved cable, an installed update — rather than a spontaneous hardware failure.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When a theory is not confirmed, you establish a new theory or escalate. Escalation is a legitimate step in the methodology, not an admission of failure, and it belongs in the documentation.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POST beep codes and diagnostic LEDs report faults before any video output exists. A repeating beep pattern usually indicates RAM or graphics, and reseating the module is the correct first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advClick="1">
    <p:push dir="l"/>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28%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Hardware and Network Troubleshooting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blue screen of death or a macOS pinwheel points at a driver, failing RAM or a failing disk. Read the stop code, note what changed immediately before it, and test memory before replacing anything.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Symptom clusters point at causes: a burning smell means shut down and unplug immediately, a grinding noise means a failing fan or drive, capacitor swelling means the motherboard is finished, and a date that resets each boot means the CMOS battery is dead.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Overheating shows as thermal throttling, random reboots or shutdown under load. Check that fans spin, that intakes and heatsink fins are free of dust, that ambient airflow is adequate, and that thermal paste has not dried out.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S.M.A.R.T. reports a drive's own health data — reallocated sectors, pending sectors and read error rate. A S.M.A.R.T. warning means back up the data now and replace the drive; it does not mean you have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advClick="1">
    <p:push dir="l"/>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28%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Hardware and Network Troubleshooting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RAID recovery depends on the level. RAID 1, 5 and 10 survive a single disk failure and rebuild after you replace the drive, but RAID 0 has no redundancy at all and any single failure means restoring from backup.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Display faults follow a short checklist: wrong input source, a physical cable fault, a dead backlight or projector bulb producing a dim image, burn-in from a static image, dead pixels, and colour problems from a wrong or damaged cable.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Print defects map to components in the laser process — vertical lines mean a scratched drum, garbled output means the wrong driver, toner that wipes off means the fuser has failed, and repeated ghost images mean the drum is not being cleaned.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Network symptoms have distinct signatures: an APIPA address means DHCP failed, high latency and jitter degrade VoIP and need QoS, port flapping points at a physical cable or connector fault, and intermittent wireless usually means distance, interference or channel overlap.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med" advClick="1">
    <p:push dir="l"/>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Hardware and Network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22–24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Applying the CompTIA Six-Step Troubleshooting Methodology</a:t>
            </a:r>
          </a:p>
          <a:p>
            <a:pPr>
              <a:spcAft>
                <a:spcPts val="900"/>
              </a:spcAft>
            </a:pPr>
            <a:r>
              <a:rPr sz="1400" b="0">
                <a:solidFill>
                  <a:srgbClr val="161B26"/>
                </a:solidFill>
                <a:latin typeface="Arial"/>
              </a:rPr>
              <a:t>•  POST, Boot and Power Fault Diagnosis</a:t>
            </a:r>
          </a:p>
          <a:p>
            <a:pPr>
              <a:spcAft>
                <a:spcPts val="900"/>
              </a:spcAft>
            </a:pPr>
            <a:r>
              <a:rPr sz="1400" b="0">
                <a:solidFill>
                  <a:srgbClr val="161B26"/>
                </a:solidFill>
                <a:latin typeface="Arial"/>
              </a:rPr>
              <a:t>•  Storage and RAID Fault Diagnosis with S.M.A.R.T.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25–27</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Display and Projector Fault Diagnosis</a:t>
            </a:r>
          </a:p>
          <a:p>
            <a:pPr>
              <a:spcAft>
                <a:spcPts val="900"/>
              </a:spcAft>
            </a:pPr>
            <a:r>
              <a:rPr sz="1400" b="0">
                <a:solidFill>
                  <a:srgbClr val="161B26"/>
                </a:solidFill>
                <a:latin typeface="Arial"/>
              </a:rPr>
              <a:t>•  Mobile Device Hardware Fault Diagnosis</a:t>
            </a:r>
          </a:p>
          <a:p>
            <a:pPr>
              <a:spcAft>
                <a:spcPts val="900"/>
              </a:spcAft>
            </a:pPr>
            <a:r>
              <a:rPr sz="1400" b="0">
                <a:solidFill>
                  <a:srgbClr val="161B26"/>
                </a:solidFill>
                <a:latin typeface="Arial"/>
              </a:rPr>
              <a:t>•  Printer Fault Diagnosis from Print Defects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28</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Network Fault Diagnosis — Command Line to Packet Level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Applying the CompTIA Six-Step Troubleshooting Methodology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the CompTIA six-step troubleshooting methodology in order to a real fault, documenting each step (Core 1 objective 5.1).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methodology is examinable in order and is the framework every other troubleshooting lab in this course hangs from. You apply all six steps to a fault, writing the evidence at each step, and produce the documentation that step six actually requires.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six-step troubleshooting record for one fault, with evidence and a preventive measure at each step.</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Training PC with an injected fault, ticketing template, Killercoda Ubuntu Playground</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record contains all six steps in the correct order, each with written evidence; a rollback position is stated before implementation; a specific preventive measure is named; and the DNS exercise shows the fault reproduced and then resolved.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Learn the six steps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Identify, theorise, test, plan, verify, then document</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Interview and back up</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Ask what changed, and protect the data first</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Design a real test</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One that would disprove the theory if it were wrong</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Plan with a rollback</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State the way back before you change anything</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Verify and document</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Prove the fix, prevent recurrence, write it up</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Apply the CompTIA six-step troubleshooting methodology in order to a real fault, documenting each step (Core 1 objective 5.1).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Applying the CompTIA Six-Step Troubleshooting Methodology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record contains all six steps in the correct order, each with written evidence; a rollback position is stated before implementation; a specific preventive measure is named; and the DNS exercise shows the fault reproduced and then resolved.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POST, Boot and Power Fault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no-power, no-POST and no-boot faults using beep codes, diagnostic LEDs and a systematic elimination sequence (Core 1 objective 5.2).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machine that will not start gives you almost no information, so you need a fixed elimination sequence rather than guesswork. You build that sequence, learn to read the signals the board does give — beep codes and LEDs — and separate the three distinct failure classes.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three-branch diagnostic flowchart for no-power, no-POST and no-boot, plus a beep code and LED reference.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Training PC, motherboard manual, POST diagnostic references, PSU tester or multimeter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flowchart routes to the correct branch from the entry symptom in no more than two questions, each branch orders its checks from cheapest and least invasive to most, and the minimum configuration test is included in the no-POST branch.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Classify the failure</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No power, no POST, or POST completes but no boot</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Work the power branch</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Socket, lead, switch, PSU, then the board itself</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what it tells you</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Beep codes and diagnostic LEDs before any teardown</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Reseat and strip back</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RAM and graphics, then the minimum configuration</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Fix the boot path</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Boot order, stray USB, disk detection, boot record</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no-power, no-POST and no-boot faults using beep codes, diagnostic LEDs and a systematic elimination sequence (Core 1 objective 5.2).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POST, Boot and Power Fault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flowchart routes to the correct branch from the entry symptom in no more than two questions, each branch orders its checks from cheapest and least invasive to most, and the minimum configuration test is included in the no-POST branch.</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Storage and RAID Fault Diagnosis with S.M.A.R.T.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storage faults using S.M.A.R.T. data, symptom analysis and RAID status, and choose the correct recovery action for each RAID level (Core 1 objective 5.3).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Storage faults are the ones where a wrong move destroys the data permanently, so the order of actions matters more than in any other troubleshooting lab. You read S.M.A.R.T. attributes, interpret the warning signs, and decide the recovery action per RAID level.</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S.M.A.R.T. attribute interpretation record, a storage symptom map and a RAID recovery decision table.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Training PC, Killercoda Ubuntu Playground, smartctl, chkdsk, Disk Management, wmic</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record names at least four S.M.A.R.T. attributes and states the correct action for a non-zero reallocated sector count; the recovery table gives a distinct action for all four RAID levels; and the rebuild risk is stated explicitly.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Protect the data first</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Back up before diagnostics — they can finish a dying drive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the health</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wmic and Disk Management report status and capacity</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S.M.A.R.T.</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Reallocated, pending and uncorrectable sector counts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Act on the warning</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Any non-zero count means back up now and replace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Recover the array</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RAID 1, 5 and 10 rebuild; RAID 0 means restore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storage faults using S.M.A.R.T. data, symptom analysis and RAID status, and choose the correct recovery action for each RAID level (Core 1 objective 5.3).</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Storage and RAID Fault Diagnosis with S.M.A.R.T.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record names at least four S.M.A.R.T. attributes and states the correct action for a non-zero reallocated sector count; the recovery table gives a distinct action for all four RAID levels; and the rebuild risk is stated explicitly.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Display and Projector Fault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display and projector faults by isolating source, cable, panel, backlight and settings as distinct failure points (Core 1 objective 5.4).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Display faults are frequently misdiagnosed as a dead monitor when the real cause is a wrong input, a failing cable or a dead backlight. You build the isolation sequence that identifies which of the five components has actually failed before any part is ordered.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display fault isolation sequence and a symptom-to-cause map covering twelve display and projector faults.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Monitor, projector, spare display cables, training PC, torch, display settings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isolation sequence checks input selection before substituting any hardware, the map covers all twelve faults with a named component and a confirming test, and the backlight, panel and signal path are treated as three separate failure points.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the source</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Confirm the machine is on and producing output</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the input</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wrong input selection is the commonest complaint</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Substitute the cable</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cable can fail intermittently while looking intact</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Isolate the backlight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faint image under a torch means backlight or inverter</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Map the rest</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Burn-in, dead pixels, colour, dim bulb and shutdown</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display and projector faults by isolating source, cable, panel, backlight and settings as distinct failure points (Core 1 objective 5.4).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Display and Projector Fault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isolation sequence checks input selection before substituting any hardware, the map covers all twelve faults with a named component and a confirming test, and the backlight, panel and signal path are treated as three separate failure points.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Mobile Device Hardware Fault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mobile device hardware faults including battery, charging, screen, digitizer, port and overheating problems, applying the correct safety response (Core 1 objective 5.5).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Mobile faults carry a safety dimension that desktop faults do not: a swollen lithium battery is a fire and chemical hazard. You build the diagnostic map and, for each fault, record both the technical response and the safety response.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mobile fault diagnostic map with a technical and a safety response for each of ten faults.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Mobile device, charging cables, battery health screens, device settings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fault in your map has both a technical and a safety response; the swollen battery entry forbids puncturing, compressing and charging; and the charging diagnosis substitutes cable and charger before the battery is suspected.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State the safety rule</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Never puncture, compress or charge a swollen battery</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battery</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Maximum capacity and cycle count from device settings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Split the causes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Degraded cell, background apps, weak signal or brightness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Test the charge path</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Cable, then charger, then the port, then the battery</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Separate screen faults</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Cracked glass, dead display and dead digitizer differ</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mobile device hardware faults including battery, charging, screen, digitizer, port and overheating problems, applying the correct safety response (Core 1 objective 5.5).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Mobile Device Hardware Fault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fault in your map has both a technical and a safety response; the swollen battery entry forbids puncturing, compressing and charging; and the charging diagnosis substitutes cable and charger before the battery is suspected.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Printer Fault Diagnosis from Print Defects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printer faults by reading the physical defect on the page and mapping it to the failed component in the print process (Core 1 objective 5.6).</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printed page is diagnostic evidence: the defect's pattern tells you which component failed and often where in the paper path. You build the defect-to-component map, then work through paper handling, connectivity and driver faults that produce no defect at all.</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print defect diagnostic map covering twelve defects, plus a paper-path and connectivity fault checklist.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Laser and inkjet printers or reference defect images, maintenance kit reference, print management console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map covers all twelve defects with a named component and a corrective action; the fuser, drum and corona faults are correctly distinguished; and the connectivity checklist includes clearing the queue and restarting the spooler.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page</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The defect pattern names the component that failed</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Trace the drum</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Vertical lines and repeating ghost images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Trace the fuser</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Toner that wipes off was never melted onto the paper</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Trace paper handling</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Jams and misfeeds point at rollers and separation pads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Clear the queue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No output at all: spooler, queue, network and driver</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printer faults by reading the physical defect on the page and mapping it to the failed component in the print process (Core 1 objective 5.6).</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Printer Fault Diagnosis from Print Defects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map covers all twelve defects with a named component and a corrective action; the fuser, drum and corona faults are correctly distinguished; and the connectivity checklist includes clearing the queue and restarting the spooler.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Network Fault Diagnosis — Command Line to Packet Level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network faults by working the layers in order, from physical connectivity through addressing and DNS to application behaviour (Core 1 objective 5.7).</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Network faults are diagnosed layer by layer, because testing at the wrong layer wastes time and misleads. You work a fixed bottom-up sequence with a specific command at each layer, then use packet analysis to resolve what the commands alone cannot.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layered network diagnostic sequence with a command per layer, and a symptom-to-cause map for eight network faults.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Playground, PCAP Analyzer, IP Calculator, ping, traceroute, dig, ss, tcpdump</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command in the sequence runs successfully on the playground, the sequence tests layers strictly bottom-up, IP Calculator confirms the host address sits within its usable range, and the symptom map assigns a layer and a specific test to all eight faults.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Order the layers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Link, addressing, gateway, DNS, then the application</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Prove the link</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ip -brief link show before anything above it</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Validate the address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APIPA means DHCP never answered; confirm the subnet</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Split routing from DNS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Ping by IP, then by name, and compare the results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Capture when stuck</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tcpdump and PCAP Analyzer when commands are inconclusive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network faults by working the layers in order, from physical connectivity through addressing and DNS to application behaviour (Core 1 objective 5.7).</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Network Fault Diagnosis — Command Line to Packet Level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command in the sequence runs successfully on the playground, the sequence tests layers strictly bottom-up, IP Calculator confirms the host address sits within its usable range, and the symptom map assigns a layer and a specific test to all eight faults.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RECAP · 28%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Hardware and Network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Apply the CompTIA six-step troubleshooting methodology in order to a real fault, documenting each step (Core 1 objective 5.1).</a:t>
            </a:r>
          </a:p>
          <a:p>
            <a:pPr>
              <a:spcAft>
                <a:spcPts val="1000"/>
              </a:spcAft>
            </a:pPr>
            <a:r>
              <a:rPr sz="1500" b="0">
                <a:solidFill>
                  <a:srgbClr val="161B26"/>
                </a:solidFill>
                <a:latin typeface="Arial"/>
              </a:rPr>
              <a:t>•  You can now: Diagnose no-power, no-POST and no-boot faults using beep codes, diagnostic LEDs and a systematic elimination sequence (Core 1 objective 5.2).</a:t>
            </a:r>
          </a:p>
          <a:p>
            <a:pPr>
              <a:spcAft>
                <a:spcPts val="1000"/>
              </a:spcAft>
            </a:pPr>
            <a:r>
              <a:rPr sz="1500" b="0">
                <a:solidFill>
                  <a:srgbClr val="161B26"/>
                </a:solidFill>
                <a:latin typeface="Arial"/>
              </a:rPr>
              <a:t>•  You can now: Diagnose storage faults using S.M.A.R.T. data, symptom analysis and RAID status, and choose the correct recovery action for each RAID level (Core 1 objective 5.3).</a:t>
            </a:r>
          </a:p>
          <a:p>
            <a:pPr>
              <a:spcAft>
                <a:spcPts val="1000"/>
              </a:spcAft>
            </a:pPr>
            <a:r>
              <a:rPr sz="1500" b="0">
                <a:solidFill>
                  <a:srgbClr val="161B26"/>
                </a:solidFill>
                <a:latin typeface="Arial"/>
              </a:rPr>
              <a:t>•  You can now: Diagnose display and projector faults by isolating source, cable, panel, backlight and settings as distinct failure points (Core 1 objective 5.4).</a:t>
            </a:r>
          </a:p>
          <a:p>
            <a:pPr>
              <a:spcAft>
                <a:spcPts val="1000"/>
              </a:spcAft>
            </a:pPr>
            <a:r>
              <a:rPr sz="1500" b="0">
                <a:solidFill>
                  <a:srgbClr val="161B26"/>
                </a:solidFill>
                <a:latin typeface="Arial"/>
              </a:rPr>
              <a:t>•  You can now: Diagnose mobile device hardware faults including battery, charging, screen, digitizer, port and overheating problems, applying the correct safety response (Core 1 objective 5.5).</a:t>
            </a:r>
          </a:p>
          <a:p>
            <a:pPr>
              <a:spcAft>
                <a:spcPts val="1000"/>
              </a:spcAft>
            </a:pPr>
            <a:r>
              <a:rPr sz="1500" b="0">
                <a:solidFill>
                  <a:srgbClr val="161B26"/>
                </a:solidFill>
                <a:latin typeface="Arial"/>
              </a:rPr>
              <a:t>•  You can now: Diagnose printer faults by reading the physical defect on the page and mapping it to the failed component in the print process (Core 1 objective 5.6).</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med" advClick="1">
    <p:push dir="l"/>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Operating Systems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Windows editions and installation · command line · Windows tools and MMC · file systems · macOS and Linux</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med" advClick="1">
    <p:push dir="l"/>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2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06 at a Glance — Operating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2</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28% of Core 2</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17%</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29, Lab 30, Lab 31, Lab 32, Lab 33, Lab 34, Lab 35, Lab 36</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Windows editions and installation · command line · Windows tools and MMC · file systems · macOS and Linux</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Operating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Windows editions differ in capability, and choosing correctly avoids paying for features nobody needs. Home has no domain join or BitLocker, Pro adds domain join, BitLocker, Group Policy and Remote Desktop hosting, and Enterprise adds large-scale management features.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Installation types serve different situations: a clean install wipes and starts fresh, an in-place upgrade keeps files and applications, a network deployment images many machines at once over the wire, and cloning duplicates a prepared reference image.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MBR partitioning is limited to four primary partitions and 2 TB disks, while GPT supports far more partitions and much larger disks and is required for UEFI Secure Boot. Getting this wrong is a common cause of an installer refusing to proceed.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Windows file systems differ in what they can do. NTFS supports permissions, encryption, compression, journaling and very large files. FAT32 is limited to 4 GB files but is universally readable, and exFAT lifts the size limit for removable media.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med" advClick="1">
    <p:push dir="l"/>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Operating Systems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Navigation and file commands you must know are cd, dir, md, rd, copy, xcopy and robocopy — where robocopy is the resilient choice for large or resumable transfers and is what you use in real migrations.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Networking commands each answer a specific question: ipconfig /all shows the full configuration, ping tests reachability, tracert shows the path, nslookup queries DNS directly, netstat lists active connections and pathping combines ping and tracert.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Repair commands fix specific damage. sfc /scannow repairs protected system files, chkdsk /f fixes file system errors while /r also locates bad sectors, and DISM repairs the component store that sfc itself depends 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Task Manager is the first stop for performance triage — Processes shows what is consuming CPU, memory, disk and network, Performance graphs the trend, and Startup shows what is slowing the boot.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med" advClick="1">
    <p:push dir="l"/>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Operating Systems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The Microsoft Management Console hosts snap-ins you must be able to launch by name: eventvwr.msc, diskmgmt.msc, taskschd.msc, devmgmt.msc, lusrmgr.msc, perfmon.msc and gpedit.msc.</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Additional utilities cover the rest of the toolkit: msconfig for boot and startup, cleanmgr for disk cleanup, dfrgui to optimise drives, regedit for the registry and resmon for detailed resource analysis.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workgroup is a decentralised peer-to-peer arrangement using local accounts and is right for a SOHO, while a domain centralises authentication and policy in Active Directory and is what any organisation of scale uses.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macOS provides Time Machine for backup, Disk Utility for partitioning and First Aid, FileVault for full-disk encryption, Keychain for credentials, Mission Control for window and desktop management, and Gatekeeper to control what may install.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med" advClick="1">
    <p:push dir="l"/>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Operating Systems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Linux command-line essentials are ls, cd, pwd, cp, mv, rm, mkdir, cat, grep, find, df, du, ps, top, chmod, chown, sudo, apt and man. These appear directly in Core 2 objective 1.11.</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Linux permissions are read, write and execute applied to owner, group and others, expressed either symbolically (rwxr-xr--) or numerically (754). chmod changes the permission bits and chown changes ownership.</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med" advClick="1">
    <p:push dir="l"/>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Operating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29–31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Windows Editions, Installation Types and Partitioning</a:t>
            </a:r>
          </a:p>
          <a:p>
            <a:pPr>
              <a:spcAft>
                <a:spcPts val="900"/>
              </a:spcAft>
            </a:pPr>
            <a:r>
              <a:rPr sz="1400" b="0">
                <a:solidFill>
                  <a:srgbClr val="161B26"/>
                </a:solidFill>
                <a:latin typeface="Arial"/>
              </a:rPr>
              <a:t>•  Windows Command Line — Navigation, Files and Copy Operations</a:t>
            </a:r>
          </a:p>
          <a:p>
            <a:pPr>
              <a:spcAft>
                <a:spcPts val="900"/>
              </a:spcAft>
            </a:pPr>
            <a:r>
              <a:rPr sz="1400" b="0">
                <a:solidFill>
                  <a:srgbClr val="161B26"/>
                </a:solidFill>
                <a:latin typeface="Arial"/>
              </a:rPr>
              <a:t>•  Windows Networking and Repair Commands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32–34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Windows Management Tools — Task Manager, MMC and Snap-ins</a:t>
            </a:r>
          </a:p>
          <a:p>
            <a:pPr>
              <a:spcAft>
                <a:spcPts val="900"/>
              </a:spcAft>
            </a:pPr>
            <a:r>
              <a:rPr sz="1400" b="0">
                <a:solidFill>
                  <a:srgbClr val="161B26"/>
                </a:solidFill>
                <a:latin typeface="Arial"/>
              </a:rPr>
              <a:t>•  File Systems, Permissions and Share Configuration</a:t>
            </a:r>
          </a:p>
          <a:p>
            <a:pPr>
              <a:spcAft>
                <a:spcPts val="900"/>
              </a:spcAft>
            </a:pPr>
            <a:r>
              <a:rPr sz="1400" b="0">
                <a:solidFill>
                  <a:srgbClr val="161B26"/>
                </a:solidFill>
                <a:latin typeface="Arial"/>
              </a:rPr>
              <a:t>•  Linux Command Line Essentials on Killercoda</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35–36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Linux Permissions, Ownership and User Management</a:t>
            </a:r>
          </a:p>
          <a:p>
            <a:pPr>
              <a:spcAft>
                <a:spcPts val="900"/>
              </a:spcAft>
            </a:pPr>
            <a:r>
              <a:rPr sz="1400" b="0">
                <a:solidFill>
                  <a:srgbClr val="161B26"/>
                </a:solidFill>
                <a:latin typeface="Arial"/>
              </a:rPr>
              <a:t>•  macOS Tools and Cross-Platform File System Compatibility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Windows Editions, Installation Types and Partitioning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Select the correct Windows edition and installation type for a requirement, and plan MBR or GPT partitioning to match the firmware mode (Core 2 objectives 1.1 and 1.9).</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match Windows editions to requirements, choose the right installation type for each situation, and plan the partition scheme — the decision that determines whether the installer will even proceed, since UEFI Secure Boot requires GPT.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edition selection matrix, four justified installation-type selections and a partition plan matched to the firmware mode.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installation media or reference, Disk Management, diskpart, msinfo32</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edition matrix correctly identifies which editions support domain join and BitLocker, each installation-type selection is justified against its requirement, and the partition plan matches the firmware mode confirmed in msinfo32.</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Match the edition</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Home cannot join a domain or run BitLocker</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Choose the install</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Clean, in-place upgrade, network deploy or clone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the requirements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TPM 2.0, UEFI and Secure Boot for Windows 11</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Pick the partition style</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UEFI Secure Boot needs GPT; legacy BIOS uses MBR</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Confirm the firmware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msinfo32 states the BIOS mode and Secure Boot state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Select the correct Windows edition and installation type for a requirement, and plan MBR or GPT partitioning to match the firmware mode (Core 2 objectives 1.1 and 1.9).</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Windows Editions, Installation Types and Partitioning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edition matrix correctly identifies which editions support domain join and BitLocker, each installation-type selection is justified against its requirement, and the partition plan matches the firmware mode confirmed in msinfo32.</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Windows Command Line — Navigation, Files and Copy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Use the Windows command line for navigation, file management and resilient copy operations, choosing correctly between copy, xcopy and robocopy (Core 2 objective 1.2).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work the Windows command line the way a technician does during a migration or a repair, when the GUI is unavailable or too slow. The lab ends on robocopy, because it is the tool that actually survives a large real-world file migration.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command reference sheet and a completed file migration performed with robocopy, verified against the source.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PC, Command Prompt, PowerShell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command executes without error, the robocopy log confirms the expected file count copied, your reference sheet states the specific limitation of copy and xcopy that robocopy overcomes, and the /MIR deletion warning is recorded.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Open an elevated prompt</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Confirm where you are and what is available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Navigate and list</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cd, dir with hidden files, and a recursive listing</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Copy one file</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copy handles files only — no directory trees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Copy a tree</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xcopy carries subdirectories but cannot resume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Mirror with robocopy</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Retries, resumes and logs — and /MIR deletes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Use the Windows command line for navigation, file management and resilient copy operations, choosing correctly between copy, xcopy and robocopy (Core 2 objective 1.2).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Windows Command Line — Navigation, Files and Copy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command executes without error, the robocopy log confirms the expected file count copied, your reference sheet states the specific limitation of copy and xcopy that robocopy overcomes, and the /MIR deletion warning is recorded.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Windows Networking and Repair Commands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Use Windows networking and repair commands to diagnose connectivity and repair system file corruption (Core 2 objective 1.2).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run the diagnostic and repair commands that appear directly in the Core 2 objectives, interpreting the output of each rather than merely executing it — because in support work the output is the diagnosis.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command output interpretation record and a completed system file integrity check with results explained.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PC, Command Prompt as administrator, PowerShell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command produces output you have interpreted in writing; ipconfig /all output identifies all six required fields; you correctly state that ping to IP succeeding while ping to name fails means DNS; and the sfc result is recorded with its meaning.</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fast" advClick="1">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configuration</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ipconfig /all gives address, gateway, DNS and MAC</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Renew the lease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Release and renew to prove the DHCP server answers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Test in order</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Loopback, gateway, external IP, then external name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Isolate DNS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IP works but name fails means DNS and nothing else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Repair the system</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sfc /scannow, then DISM when sfc cannot repair</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Use Windows networking and repair commands to diagnose connectivity and repair system file corruption (Core 2 objective 1.2).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Windows Networking and Repair Commands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command produces output you have interpreted in writing; ipconfig /all output identifies all six required fields; you correctly state that ping to IP succeeding while ping to name fails means DNS; and the sfc result is recorded with its meaning.</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Windows Management Tools — Task Manager, MMC and Snap-ins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Use Task Manager, the Microsoft Management Console and its snap-ins to diagnose performance, inspect logs and manage devices, disks, users and tasks (Core 2 objectives 1.3 and 1.4).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work through every Windows administrative tool named in the Core 2 objectives, launching each by its executable name — because in an exam and on a locked-down machine you need the name, not the Start menu path.</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tool reference table with the launch command and primary use for each, plus a performance triage record from Task Manager.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PC, Task Manager, MMC snap-ins, Control Panel, Windows Settings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table lists at least twelve tools with the correct launch command for each; the Task Manager triage names the top CPU, memory and disk consumer; and the Event Viewer record cites at least one real error with its source and event ID.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fast" advClick="1">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Triage in Task Manager</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Sort by CPU, then memory, then disk</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Trim the startup</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Disable the high-impact items that slow the boot</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logs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Event Viewer, filtered to errors in the last 24 hours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Open the snap-ins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diskmgmt, devmgmt, taskschd, lusrmgr and perfmon</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Complete the toolkit</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msconfig, cleanmgr, dfrgui, regedit and resmon</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Use Task Manager, the Microsoft Management Console and its snap-ins to diagnose performance, inspect logs and manage devices, disks, users and tasks (Core 2 objectives 1.3 and 1.4).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Windows Management Tools — Task Manager, MMC and Snap-ins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table lists at least twelve tools with the correct launch command for each; the Task Manager triage names the top CPU, memory and disk consumer; and the Event Viewer record cites at least one real error with its source and event ID.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fast" advClick="1">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File Systems, Permissions and Share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Compare NTFS, FAT32 and exFAT, and configure NTFS and share permissions correctly, applying the most-restrictive rule (Core 2 objectives 1.9 and 2.5).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compare the Windows file systems on the limits that decide which to use, then configure both NTFS and share permissions on the same folder and prove the most-restrictive rule — the single most misunderstood permission behaviour in Windows.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file system comparison table and a configured share demonstrating the effective permission when NTFS and share permissions differ.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PC, File Explorer, icacls, net share, Disk Management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comparison table states the 4 GB FAT32 file size limit and identifies which file systems support permissions; icacls confirms the granted permission; and you correctly state that Share Full Control combined with NTFS Read yields an effective permission of Read.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fast" advClick="1">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Compare file systems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NTFS, FAT32 and exFAT on size, permissions and reach</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Recall the hard limit</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FAT32 cannot hold a file larger than 4 GB</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ACL</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icacls shows granted rights and what is inherited</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Grant and share</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Set an NTFS right, then share with a different one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Apply most-restrictive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Share Full Control with NTFS Read yields Read</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Compare NTFS, FAT32 and exFAT, and configure NTFS and share permissions correctly, applying the most-restrictive rule (Core 2 objectives 1.9 and 2.5).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File Systems, Permissions and Share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comparison table states the 4 GB FAT32 file size limit and identifies which file systems support permissions; icacls confirms the granted permission; and you correctly state that Share Full Control combined with NTFS Read yields an effective permission of Read.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Linux Command Line Essentials on Killercoda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Use the Linux commands named in Core 2 objective 1.11 for navigation, file management, searching, process control and package management (Core 2 objective 1.11).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work every Linux command the A+ objectives name, on a real Ubuntu machine in the browser. Each command is run against real files and real output so the behaviour, not just the syntax, is what you take away.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verified Linux command reference with real output recorded for each command in the objective list.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Playground (https://killercoda.com/playgrounds/scenario/ubuntu)</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command runs without error on the playground; grep returns exactly two ERROR lines from the log; ls -l confirms the 640 permission as rw-r-----; and your reference records real output for each command rather than expected output.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fast" advClick="1">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Open the playground</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Confirm the working directory and the current user</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Build a tree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Directories and files with real content to work on</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List and read</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ls -la, cat and less on real system files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Search the content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grep finds the errors; find locates the files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and control</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df, free, ps, then chmod and chown</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Use the Linux commands named in Core 2 objective 1.11 for navigation, file management, searching, process control and package management (Core 2 objective 1.11).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Linux Command Line Essentials on Killercoda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command runs without error on the playground; grep returns exactly two ERROR lines from the log; ls -l confirms the 640 permission as rw-r-----; and your reference records real output for each command rather than expected output.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fast" advClick="1">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Linux Permissions, Ownership and User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the Linux permission model to users, groups and others using symbolic and numeric notation, and manage users and sudo rights (Core 2 objective 1.11).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work the permission model until numeric notation is automatic, then apply it to a real access-control problem: giving a group shared write access to a directory without giving everyone else access. This is exactly what the exam tests and what the job requires.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permission notation conversion table and a working shared group directory with verified access control.</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Playground</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conversion table is correct for all seven modes; the execute-bit demonstration shows a directory becoming enterable at 755 but not at 644; /srv/shared is mode 2770 owned by the support group; and alice's file inherits the support group.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fast" advClick="1">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triplets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Owner, group and others, each with r, w and x</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Convert the notation</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 is 4, w is 2, x is 1, so rw- is 6 and rwx is 7</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Prove the execute bit</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directory at 644 cannot be entered at all</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Create users and a group</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Two accounts sharing one support group</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Share with setgid</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Mode 2770 so new files inherit the group</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Apply the Linux permission model to users, groups and others using symbolic and numeric notation, and manage users and sudo rights (Core 2 objective 1.11).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Linux Permissions, Ownership and User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conversion table is correct for all seven modes; the execute-bit demonstration shows a directory becoming enterable at 755 but not at 644; /srv/shared is mode 2770 owned by the support group; and alice's file inherits the support group.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fast" advClick="1">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macOS Tools and Cross-Platform File System Compatibility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macOS features and utilities and resolve cross-platform file system compatibility between Windows, macOS and Linux (Core 2 objectives 1.10 and 1.9).</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map the macOS toolset to its Windows equivalent, which is how a technician supporting a mixed fleet actually thinks, then solve the file system compatibility problem that causes most cross-platform support tickets.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macOS-to-Windows tool equivalence table and a solved cross-platform file system compatibility matrix.</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macOS device or reference material, Windows PC, file system documentation</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equivalence table maps at least eight macOS tools to their Windows counterparts; the compatibility matrix correctly shows macOS as read-only for NTFS; and both scenarios name a file system and justify it against the stated constraints.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spd="fast" advClick="1">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Map the equivalents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Time Machine, Disk Utility, FileVault and Keychain</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Explain Gatekeeper</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It decides which applications are allowed to run</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Rank the sources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App Store, signed installer, then unsigned</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Table the file systems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Read and write support across the three platforms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Solve the exchange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macOS reads NTFS but cannot write to it</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macOS features and utilities and resolve cross-platform file system compatibility between Windows, macOS and Linux (Core 2 objectives 1.10 and 1.9).</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macOS Tools and Cross-Platform File System Compatibility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equivalence table maps at least eight macOS tools to their Windows counterparts; the compatibility matrix correctly shows macOS as read-only for NTFS; and both scenarios name a file system and justify it against the stated constraints.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fast" advClick="1">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RECAP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Operating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Select the correct Windows edition and installation type for a requirement, and plan MBR or GPT partitioning to match the firmware mode (Core 2 objectives 1.1 and 1.9).</a:t>
            </a:r>
          </a:p>
          <a:p>
            <a:pPr>
              <a:spcAft>
                <a:spcPts val="1000"/>
              </a:spcAft>
            </a:pPr>
            <a:r>
              <a:rPr sz="1500" b="0">
                <a:solidFill>
                  <a:srgbClr val="161B26"/>
                </a:solidFill>
                <a:latin typeface="Arial"/>
              </a:rPr>
              <a:t>•  You can now: Use the Windows command line for navigation, file management and resilient copy operations, choosing correctly between copy, xcopy and robocopy (Core 2 objective 1.2).</a:t>
            </a:r>
          </a:p>
          <a:p>
            <a:pPr>
              <a:spcAft>
                <a:spcPts val="1000"/>
              </a:spcAft>
            </a:pPr>
            <a:r>
              <a:rPr sz="1500" b="0">
                <a:solidFill>
                  <a:srgbClr val="161B26"/>
                </a:solidFill>
                <a:latin typeface="Arial"/>
              </a:rPr>
              <a:t>•  You can now: Use Windows networking and repair commands to diagnose connectivity and repair system file corruption (Core 2 objective 1.2).</a:t>
            </a:r>
          </a:p>
          <a:p>
            <a:pPr>
              <a:spcAft>
                <a:spcPts val="1000"/>
              </a:spcAft>
            </a:pPr>
            <a:r>
              <a:rPr sz="1500" b="0">
                <a:solidFill>
                  <a:srgbClr val="161B26"/>
                </a:solidFill>
                <a:latin typeface="Arial"/>
              </a:rPr>
              <a:t>•  You can now: Use Task Manager, the Microsoft Management Console and its snap-ins to diagnose performance, inspect logs and manage devices, disks, users and tasks (Core 2 objectives 1.3 and 1.4).</a:t>
            </a:r>
          </a:p>
          <a:p>
            <a:pPr>
              <a:spcAft>
                <a:spcPts val="1000"/>
              </a:spcAft>
            </a:pPr>
            <a:r>
              <a:rPr sz="1500" b="0">
                <a:solidFill>
                  <a:srgbClr val="161B26"/>
                </a:solidFill>
                <a:latin typeface="Arial"/>
              </a:rPr>
              <a:t>•  You can now: Compare NTFS, FAT32 and exFAT, and configure NTFS and share permissions correctly, applying the most-restrictive rule (Core 2 objectives 1.9 and 2.5).</a:t>
            </a:r>
          </a:p>
          <a:p>
            <a:pPr>
              <a:spcAft>
                <a:spcPts val="1000"/>
              </a:spcAft>
            </a:pPr>
            <a:r>
              <a:rPr sz="1500" b="0">
                <a:solidFill>
                  <a:srgbClr val="161B26"/>
                </a:solidFill>
                <a:latin typeface="Arial"/>
              </a:rPr>
              <a:t>•  You can now: Use the Linux commands named in Core 2 objective 1.11 for navigation, file management, searching, process control and package management (Core 2 objective 1.11).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med" advClick="1">
    <p:push dir="l"/>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Physical and logical security · authentication and MFA · wireless security · malware · social engineering · workstation and mobile hardening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07</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med" advClick="1">
    <p:push dir="l"/>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2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07 at a Glance —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2</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28% of Core 2</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17%</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37, Lab 38, Lab 39, Lab 40, Lab 41, Lab 42, Lab 43, Lab 44</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Physical and logical security · authentication and MFA · wireless security · malware · social engineering · workstation and mobile hardening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fast" advClick="1">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07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Physical controls stop an attacker reaching the hardware at all: access control vestibules defeat tailgating, badge readers and biometrics control entry, cameras and alarms detect intrusion, and bollards and fences protect the perimeter.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The principle of least privilege gives every user exactly the access their job requires and nothing more, which limits the blast radius when any single account is compromised.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Multifactor authentication combines factors from different categories — something you know, something you have and something you are. Two passwords are not MFA because both come from the same category.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Wireless security has a clear generational order. WEP is broken, WPA with TKIP is deprecated, WPA2 with AES-CCMP is the practical minimum today, and WPA3 adds SAE which defeats offline dictionary attacks against the handshake.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med" advClick="1">
    <p:push dir="l"/>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07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Security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Enterprise authentication is centralised through RADIUS, TACACS+ or Kerberos so that credentials live in one directory rather than being configured device by device.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Malware types are distinguished by behaviour: a virus needs a host file and human action, a worm spreads by itself across a network, a trojan hides inside apparently legitimate software, ransomware encrypts data for payment, a rootkit hides at or below the OS, spyware exfiltrates information, and a keylogger records what you type.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The seven-step malware removal procedure is examinable in order: investigate and verify symptoms, quarantine the system, disable System Restore, remediate by updating the anti-malware and scanning in safe mode, schedule scans and updates, re-enable System Restore and create a restore point, and finally educate the end user.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Social engineering attacks the person, not the machine. Phishing, spear phishing, whaling, vishing and smishing all use a fabricated pretext and manufactured urgency to get the target to act before they think.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med" advClick="1">
    <p:push dir="l"/>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07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Security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In-person techniques include tailgating through a controlled door, shoulder surfing to read credentials, dumpster diving for discarded information, and impersonating IT support or a senior executive.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Network attacks you must recognise are denial of service and its distributed form, on-path (man-in-the-middle) interception, DNS poisoning, ARP spoofing, SQL injection, cross-site scripting and the zero-day exploit for which no patch yet exists.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Windows security settings that matter in practice are Defender Antivirus with current definitions, Defender Firewall, NTFS and share permissions where the most restrictive of the two wins, User Account Control, and BitLocker for full-volume encryption.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Workstation hardening means strong password policies, account lockout thresholds, screensaver locks, disabling AutoRun, removing unused accounts and restricting administrative rights to those who genuinely need them.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med" advClick="1">
    <p:push dir="l"/>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07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Security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Mobile hardening relies on screen locks, biometrics, full-device encryption, remote wipe, locator services, current OS patches and installing applications only from the official store.</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Data destruction must match the sensitivity of the data. Physical destruction by drilling, shredding, degaussing or incinerating is irreversible, while wiping and low-level formatting allow reuse — and outsourced destruction must return a certificate.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spd="med" advClick="1">
    <p:push dir="l"/>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37–39</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Physical and Logical Security Control Design</a:t>
            </a:r>
          </a:p>
          <a:p>
            <a:pPr>
              <a:spcAft>
                <a:spcPts val="900"/>
              </a:spcAft>
            </a:pPr>
            <a:r>
              <a:rPr sz="1400" b="0">
                <a:solidFill>
                  <a:srgbClr val="161B26"/>
                </a:solidFill>
                <a:latin typeface="Arial"/>
              </a:rPr>
              <a:t>•  Password Strength Analysis and Authentication Policy</a:t>
            </a:r>
          </a:p>
          <a:p>
            <a:pPr>
              <a:spcAft>
                <a:spcPts val="900"/>
              </a:spcAft>
            </a:pPr>
            <a:r>
              <a:rPr sz="1400" b="0">
                <a:solidFill>
                  <a:srgbClr val="161B26"/>
                </a:solidFill>
                <a:latin typeface="Arial"/>
              </a:rPr>
              <a:t>•  Phishing Recognition and Social Engineering Defence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40–42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Malware Types, Symptoms and the Seven-Step Removal Procedure</a:t>
            </a:r>
          </a:p>
          <a:p>
            <a:pPr>
              <a:spcAft>
                <a:spcPts val="900"/>
              </a:spcAft>
            </a:pPr>
            <a:r>
              <a:rPr sz="1400" b="0">
                <a:solidFill>
                  <a:srgbClr val="161B26"/>
                </a:solidFill>
                <a:latin typeface="Arial"/>
              </a:rPr>
              <a:t>•  Network Attack Recognition — Injection, XSS and Data Leakage</a:t>
            </a:r>
          </a:p>
          <a:p>
            <a:pPr>
              <a:spcAft>
                <a:spcPts val="900"/>
              </a:spcAft>
            </a:pPr>
            <a:r>
              <a:rPr sz="1400" b="0">
                <a:solidFill>
                  <a:srgbClr val="161B26"/>
                </a:solidFill>
                <a:latin typeface="Arial"/>
              </a:rPr>
              <a:t>•  Wireless Security and SOHO Router Hardening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43–44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Windows Security Configuration and BitLocker Encryption</a:t>
            </a:r>
          </a:p>
          <a:p>
            <a:pPr>
              <a:spcAft>
                <a:spcPts val="900"/>
              </a:spcAft>
            </a:pPr>
            <a:r>
              <a:rPr sz="1400" b="0">
                <a:solidFill>
                  <a:srgbClr val="161B26"/>
                </a:solidFill>
                <a:latin typeface="Arial"/>
              </a:rPr>
              <a:t>•  Data Destruction, Disposal and Regulated Data Handling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fast" advClick="1">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Physical and Logical Security Control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Select and justify physical and logical security controls for a site, applying the principle of least privilege and defence in depth (Core 2 objectives 2.1 and 2.2).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design the control set for a small office, working outward from the data to the perimeter. Each control must be justified by the specific threat it defeats, because a control chosen without a threat is a cost without a benefit.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layered security design with physical and logical controls, each mapped to the threat it defeats.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Site plan or scenario brief, security control reference, organisational policy template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control in your design is mapped to a specific threat; tailgating and piggybacking are correctly distinguished; the MFA section correctly rejects two same-category factors; and your first-three prioritisation is justified on risk rather than cost alone.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med" advClick="1">
    <p:push dir="l"/>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Layer the defences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Defeating one control still leaves another</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Secure the perimeter</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Fences, bollards, lighting, cameras and alarms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Control the entry</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vestibule admits one person and defeats tailgating</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Apply least privilege</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Exactly the access the role requires, and no more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Require real MFA</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Two factors from different categories, never two passwords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Select and justify physical and logical security controls for a site, applying the principle of least privilege and defence in depth (Core 2 objectives 2.1 and 2.2).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Physical and Logical Security Control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control in your design is mapped to a specific threat; tailgating and piggybacking are correctly distinguished; the MFA section correctly rejects two same-category factors; and your first-three prioritisation is justified on risk rather than cost alone.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spd="fast" advClick="1">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Password Strength Analysis and Authentication Policy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Analyse password strength quantitatively and write an authentication policy grounded in entropy and crack-time evidence (Core 2 objectives 2.2 and 2.6).</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use the Cybersecurity Simulator's Password Lab to measure real passwords rather than assert what makes a good one, then write a policy whose every rule is justified by the measured effect on entropy and crack time.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measured password analysis table and an authentication policy with each rule justified by evidence.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Cybersecurity Simulator Password Lab (https://alfredang.github.io/cybersecuritysimulator/), policy template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analysis table records the actual entropy and crack time from the tool for all five passwords; the conclusion that length beats substitution is supported by your own figures; and every policy rule cites a measured value.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spd="fast" advClick="1">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Open the Password Lab</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Measure rather than assert what makes a password strong</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Test a dictionary word</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Record strength, crack time and entropy in bits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Test the substitution</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P@ssw0rd is what cracking tools try first</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Test a passphrase</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Compare a 16-character phrase against the substitution</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Write the policy</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Every rule justified by a measured figure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Analyse password strength quantitatively and write an authentication policy grounded in entropy and crack-time evidence (Core 2 objectives 2.2 and 2.6).</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Password Strength Analysis and Authentication Policy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analysis table records the actual entropy and crack time from the tool for all five passwords; the conclusion that length beats substitution is supported by your own figures; and every policy rule cites a measured value.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fast" advClick="1">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Phishing Recognition and Social Engineering Defence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phishing indicators and social engineering tactics, and design the user awareness training that defends against them (Core 2 objectives 2.4 and 2.7).</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work the Cybersecurity Simulator's phishing and social engineering modules to build recognition from real examples, then convert what you learned into the awareness training an organisation would actually deliver.</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phishing indicator checklist, a social engineering tactic reference and a user awareness training outline.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Cybersecurity Simulator (https://alfredang.github.io/cybersecuritysimulator/) — Phishing and Social Engineering modules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checklist covers at least seven phishing indicators; the tactic reference defines and defends all eight social engineering tactics; the phishing variants are correctly distinguished by target and channel; and the training outline includes a reporting procedure.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fast" advClick="1">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Classify the mail</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Ten emails across six categories, safe or phishing</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Review your misses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Record the indicator you missed on each one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Inspect the link</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The URL inspector reveals the real destination</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Work the tactics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Pretexting, baiting, tailgating, vishing and smishing</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Design the training</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Objectives, scenarios, a retention test and reporting</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phishing indicators and social engineering tactics, and design the user awareness training that defends against them (Core 2 objectives 2.4 and 2.7).</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Phishing Recognition and Social Engineering Defence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checklist covers at least seven phishing indicators; the tactic reference defines and defends all eight social engineering tactics; the phishing variants are correctly distinguished by target and channel; and the training outline includes a reporting procedure.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spd="fast" advClick="1">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Malware Types, Symptoms and the Seven-Step Removal Procedure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malware types by behaviour and apply the CompTIA seven-step malware removal procedure in order (Core 2 objectives 2.3 and 3.3).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study malware behaviour safely in the simulator, then learn the seven-step removal procedure in order — because the order is examinable and, more importantly, because doing step four before step three re-infects the restore points you are relying 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malware type reference and a written seven-step removal procedure applied to a specific infection scenario.</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Cybersecurity Simulator (https://alfredang.github.io/cybersecuritysimulator/) — Malware, Virus and Ransomware modules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reference table covers at least eight malware types with propagation and symptoms; the seven steps are in the correct order; you correctly explain why System Restore is disabled before remediation; and the scenario has a specific action at every step.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fast" advClick="1">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Watch it spread</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One infected host on a flat network is an org problem</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See the ransom screen</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Do not pay; isolate, identify, then restore offline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Table the malware</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Virus, worm, trojan, rootkit, spyware and keylogger</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Learn the seven steps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Verify, quarantine, disable restore, remediate, then educate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Explain the order</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Restore points can carry the malware straight back</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malware types by behaviour and apply the CompTIA seven-step malware removal procedure in order (Core 2 objectives 2.3 and 3.3).</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Malware Types, Symptoms and the Seven-Step Removal Procedure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reference table covers at least eight malware types with propagation and symptoms; the seven steps are in the correct order; you correctly explain why System Restore is disabled before remediation; and the scenario has a specific action at every step.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fast" advClick="1">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Network Attack Recognition — Injection, XSS and Data Leakage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Recognise common application and network attacks including SQL injection, cross-site scripting, on-path attacks and denial of service, and state the defence for each (Core 2 objective 2.4).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see injection and scripting attacks behave in the simulator's safe sandbox, then build the attack reference an A+ technician needs — not to perform these attacks, but to recognise their symptoms in a ticket and escalate correctly.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attack reference table with mechanism, symptom and defence for each attack, plus a data leakage risk assessment.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Cybersecurity Simulator (https://alfredang.github.io/cybersecuritysimulator/) — SQL Injection, XSS and Data Leakage modules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table covers at least eight attacks with mechanism, symptom and defence; you correctly explain why ' OR '1'='1 bypasses authentication; the data leakage assessment names the highest-impact practice from the measured score; and the escalation boundary is stated.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spd="fast" advClick="1">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Break the query</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 OR '1'='1 makes the condition always true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Defend the input</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Parameterised queries so input cannot alter structure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Compare the rendering</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Safe output encoding against unsafe injection</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Score the leakage</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Toggle six practices and watch the risk move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Know your boundary</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Recognise, isolate, preserve evidence, then escalate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Recognise common application and network attacks including SQL injection, cross-site scripting, on-path attacks and denial of service, and state the defence for each (Core 2 objective 2.4).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Network Attack Recognition — Injection, XSS and Data Leakage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table covers at least eight attacks with mechanism, symptom and defence; you correctly explain why ' OR '1'='1 bypasses authentication; the data leakage assessment names the highest-impact practice from the measured score; and the escalation boundary is stated.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fast" advClick="1">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Security and SOHO Router Hardening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wireless encryption and harden a SOHO router against the attacks the default configuration invites (Core 2 objectives 2.9 and 2.10).</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SOHO router shipped with default settings is one of the most commonly compromised devices in any small network. You work through every hardening step in order of impact and record what each one actually defeats.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router hardening checklist with the threat each step defeats, and a wireless security configuration record.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SOHO router or emulator, Wi-Fi analyser, IP Calculator, router documentation</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checklist covers at least ten hardening steps each with a named threat; WEP, WPA, WPA2 and WPA3 are correctly ordered by security; SSID hiding and MAC filtering are correctly described as weak controls; and firmware update appears in your five-minute priority set.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spd="med" advClick="1">
    <p:push dir="l"/>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Order the encryption</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WEP broken, WPA deprecated, WPA2 minimum, WPA3 current</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Change the defaults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Admin password and SSID before anything else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Set WPA2 or WPA3</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AES-CCMP with a passphrase of at least 16 characters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Know the weak controls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Hidden SSID and MAC filtering stop nobody capable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Patch and reduce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Firmware first, then disable WPS, remote admin and UPnP</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wireless encryption and harden a SOHO router against the attacks the default configuration invites (Core 2 objectives 2.9 and 2.10).</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Security and SOHO Router Hardening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checklist covers at least ten hardening steps each with a named threat; WEP, WPA, WPA2 and WPA3 are correctly ordered by security; SSID hiding and MAC filtering are correctly described as weak controls; and firmware update appears in your five-minute priority set.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spd="fast" advClick="1">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Windows Security Configuration and BitLocker Encryption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Windows security settings including Defender, the firewall, UAC, account policy and BitLocker encryption (Core 2 objectives 2.5 and 2.6).</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configure and verify every Windows security setting the Core 2 objectives name, on a real machine, recording the command that checks each one — because in support work you need to verify state quickly, not click through settings pages.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verified Windows security configuration record with a check command for each setting.</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PC, Windows Security, Defender Firewall, gpedit, BitLocker, PowerShell as administrator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check command returns output you have recorded; Defender is confirmed enabled with a definition date; all three firewall profiles have a recorded state; net accounts output is captured; and the BitLocker record states where the recovery key is stored.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spd="med" advClick="1">
    <p:push dir="l"/>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the defences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Defender, firewall, app control and device security</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Confirm the definitions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Signatures cannot catch what they do not yet know</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all three profiles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Domain, private and public firewall state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Inspect UAC and accounts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Prompt level, local users and who holds admin</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Verify BitLocker</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Protection state, method, and where the key is stored</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Windows security settings including Defender, the firewall, UAC, account policy and BitLocker encryption (Core 2 objectives 2.5 and 2.6).</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Windows Security Configuration and BitLocker Encryption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check command returns output you have recorded; Defender is confirmed enabled with a definition date; all three firewall profiles have a recorded state; net accounts output is captured; and the BitLocker record states where the recovery key is stored.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ransition spd="fast" advClick="1">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Data Destruction, Disposal and Regulated Data Handling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Select the correct data destruction method for a stated sensitivity and retention requirement, and handle regulated data according to its legal obligations (Core 2 objectives 2.8 and 4.6).</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Data destruction is where a wrong choice creates legal liability rather than an inconvenience. You match destruction methods to data sensitivity, then work the regulated data categories and the chain-of-custody discipline that evidence handling requires.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destruction method decision table, a regulated data handling reference and a completed chain-of-custody form.</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Data destruction reference, regulatory documentation, chain-of-custody template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decision table gives a method for all four sensitivity levels; you correctly state that degaussing does not work on SSDs; the regulated data reference covers at least five frameworks with obligations; and the chain-of-custody form has no gaps between handovers.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spd="fast" advClick="1">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Split the goal</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Destroy the media, or sanitise it for reuse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Choose destruction</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Drill, shred, degauss or incinerate — and get a certificate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Know the SSD exception</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Degaussing does nothing to flash storage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Sanitise correctly</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format only clears the index; overwrite or crypto-erase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Handle regulated data</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PII, PCI DSS, GDPR, HIPAA and PDPA, with a custody chain</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Select the correct data destruction method for a stated sensitivity and retention requirement, and handle regulated data according to its legal obligations (Core 2 objectives 2.8 and 4.6).</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Data Destruction, Disposal and Regulated Data Handling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decision table gives a method for all four sensitivity levels; you correctly state that degaussing does not work on SSDs; the regulated data reference covers at least five frameworks with obligations; and the chain-of-custody form has no gaps between handovers.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ransition spd="fast" advClick="1">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07 RECAP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Select and justify physical and logical security controls for a site, applying the principle of least privilege and defence in depth (Core 2 objectives 2.1 and 2.2).</a:t>
            </a:r>
          </a:p>
          <a:p>
            <a:pPr>
              <a:spcAft>
                <a:spcPts val="1000"/>
              </a:spcAft>
            </a:pPr>
            <a:r>
              <a:rPr sz="1500" b="0">
                <a:solidFill>
                  <a:srgbClr val="161B26"/>
                </a:solidFill>
                <a:latin typeface="Arial"/>
              </a:rPr>
              <a:t>•  You can now: Analyse password strength quantitatively and write an authentication policy grounded in entropy and crack-time evidence (Core 2 objectives 2.2 and 2.6).</a:t>
            </a:r>
          </a:p>
          <a:p>
            <a:pPr>
              <a:spcAft>
                <a:spcPts val="1000"/>
              </a:spcAft>
            </a:pPr>
            <a:r>
              <a:rPr sz="1500" b="0">
                <a:solidFill>
                  <a:srgbClr val="161B26"/>
                </a:solidFill>
                <a:latin typeface="Arial"/>
              </a:rPr>
              <a:t>•  You can now: Identify phishing indicators and social engineering tactics, and design the user awareness training that defends against them (Core 2 objectives 2.4 and 2.7).</a:t>
            </a:r>
          </a:p>
          <a:p>
            <a:pPr>
              <a:spcAft>
                <a:spcPts val="1000"/>
              </a:spcAft>
            </a:pPr>
            <a:r>
              <a:rPr sz="1500" b="0">
                <a:solidFill>
                  <a:srgbClr val="161B26"/>
                </a:solidFill>
                <a:latin typeface="Arial"/>
              </a:rPr>
              <a:t>•  You can now: Identify malware types by behaviour and apply the CompTIA seven-step malware removal procedure in order (Core 2 objectives 2.3 and 3.3).</a:t>
            </a:r>
          </a:p>
          <a:p>
            <a:pPr>
              <a:spcAft>
                <a:spcPts val="1000"/>
              </a:spcAft>
            </a:pPr>
            <a:r>
              <a:rPr sz="1500" b="0">
                <a:solidFill>
                  <a:srgbClr val="161B26"/>
                </a:solidFill>
                <a:latin typeface="Arial"/>
              </a:rPr>
              <a:t>•  You can now: Recognise common application and network attacks including SQL injection, cross-site scripting, on-path attacks and denial of service, and state the defence for each (Core 2 objective 2.4).</a:t>
            </a:r>
          </a:p>
          <a:p>
            <a:pPr>
              <a:spcAft>
                <a:spcPts val="1000"/>
              </a:spcAft>
            </a:pPr>
            <a:r>
              <a:rPr sz="1500" b="0">
                <a:solidFill>
                  <a:srgbClr val="161B26"/>
                </a:solidFill>
                <a:latin typeface="Arial"/>
              </a:rPr>
              <a:t>•  You can now: Configure wireless encryption and harden a SOHO router against the attacks the default configuration invites (Core 2 objectives 2.9 and 2.10).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spd="med" advClick="1">
    <p:push dir="l"/>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08</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Software Troubleshooting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Windows OS symptoms · recovery tools · malware removal · browser problems · mobile OS and application faults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08</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transition spd="med" advClick="1">
    <p:push dir="l"/>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2  ·  23%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08 at a Glance — Software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2</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23% of Core 2</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8%</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45, Lab 46, Lab 47, Lab 48, Lab 49</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Windows OS symptoms · recovery tools · malware removal · browser problems · mobile OS and application faults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transition spd="fast" advClick="1">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08  ·  23%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Software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The common repair sequence escalates from cheap to expensive: reboot, restart the service, uninstall or reinstall the application, add resources, verify requirements, run the system file checker, use System Restore, repair Windows, then reimage as the last resort.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Windows recovery options differ in what they preserve. System Restore rolls back system files and the registry but not personal data, Reset reinstalls Windows with an option to keep files, and the Windows Recovery Environment provides startup repair and a command prompt when Windows will not boot.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blue screen of death is caused by a driver fault, failing RAM or disk corruption. Record the stop code, roll back the most recent driver or update, and run memory and disk diagnostics before replacing hardware.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Sluggish performance is diagnosed with Task Manager and Resource Monitor to find which resource is saturated — CPU, memory, disk or network — and only then treated by trimming startup items, adding RAM or replacing a failing disk.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transition spd="med" advClick="1">
    <p:push dir="l"/>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08  ·  23%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Software Troubleshooting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'no OS found' message means the firmware cannot find a boot loader: check the boot order, remove any USB device that is being booted first, confirm the disk is detected, and repair the boot record from the recovery environment.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Malware symptoms include unexpected pop-ups, browser redirection, certificate warnings, sudden slowdown, disabled security tools and unexplained network traffic — and any of them justifies quarantining the machine immediately.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Browser problems map to specific causes: certificate warnings mean an expired, untrusted or misconfigured certificate, redirection points at adware or a hijacked search provider, and rogue extensions must be removed from the browser rather than from Windows.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Mobile application faults are treated in a fixed order — force close, clear the cache, clear the application data, uninstall and reinstall, then check for OS and application updates.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transition spd="med" advClick="1">
    <p:push dir="l"/>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08  ·  23%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Software Troubleshooting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Mobile performance symptoms have common causes: battery drain from background applications or a weak signal forcing the radio to full power, overheating from sustained load or charging faults, and random reboots from a failing update or a swollen battery.</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Mobile security symptoms — high data usage, unexpected ads, sluggish response and unfamiliar applications — often trace back to sideloaded APKs, a rooted or jailbroken device, or an application spoofing a legitimate one.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transition spd="med" advClick="1">
    <p:push dir="l"/>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Software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45–46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Windows OS Symptom Diagnosis and Recovery Tools</a:t>
            </a:r>
          </a:p>
          <a:p>
            <a:pPr>
              <a:spcAft>
                <a:spcPts val="900"/>
              </a:spcAft>
            </a:pPr>
            <a:r>
              <a:rPr sz="1400" b="0">
                <a:solidFill>
                  <a:srgbClr val="161B26"/>
                </a:solidFill>
                <a:latin typeface="Arial"/>
              </a:rPr>
              <a:t>•  Log Analysis with Regular Expressions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47–48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Malware Symptom Response and Browser Problem Resolution</a:t>
            </a:r>
          </a:p>
          <a:p>
            <a:pPr>
              <a:spcAft>
                <a:spcPts val="900"/>
              </a:spcAft>
            </a:pPr>
            <a:r>
              <a:rPr sz="1400" b="0">
                <a:solidFill>
                  <a:srgbClr val="161B26"/>
                </a:solidFill>
                <a:latin typeface="Arial"/>
              </a:rPr>
              <a:t>•  Mobile OS and Application Troubleshooting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49</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System Restore, Backup Verification and Recovery Testing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transition spd="fast" advClick="1">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Windows OS Symptom Diagnosis and Recovery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common Windows symptoms and select the correct recovery tool, escalating from least to most destructive (Core 2 objectives 3.1 and 3.2).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Windows recovery tools differ in what they destroy, so choosing correctly is what separates a fixed machine from a rebuilt one. You build the escalation ladder, then map each Windows symptom to the lowest rung that will actually resolve it.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recovery tool escalation ladder and a symptom-to-tool map covering ten Windows symptoms.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PC, System Restore, Windows Recovery Environment, Event Viewer, msconfig, sfc, DISM</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ladder orders all ten recovery options from least to most destructive; the symptom map assigns each of ten symptoms to a specific rung with justification; and you correctly state that System Restore does not affect personal files.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transition spd="fast" advClick="1">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Build the ladder</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Reboot first, reimage last, and everything between</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Start at the bottom</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Every rung up costs the user more time and more risk</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Know what restore does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System files and registry, never personal data</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Find the saturation</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Task Manager and Resource Monitor before treating anything</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Reach recovery</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Three failed boots, or Shift while selecting Restart</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common Windows symptoms and select the correct recovery tool, escalating from least to most destructive (Core 2 objectives 3.1 and 3.2).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Windows OS Symptom Diagnosis and Recovery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ladder orders all ten recovery options from least to most destructive; the symptom map assigns each of ten symptoms to a specific rung with justification; and you correctly state that System Restore does not affect personal files.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transition spd="fast" advClick="1">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 Analysis with Regular Expressions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Filter and parse system logs with regular expressions to isolate the events that matter during troubleshooting (Core 2 objectives 3.1 and 4.8).</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Logs contain thousands of lines and perhaps three that matter. You build the regular expressions that find those three, testing each pattern in RegexLab before applying it to real log data on the Killercoda playground.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tested regular expression library for log analysis, applied to real log files with the matches verified.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RegexLab (https://alfredang.github.io/regexgenerator/), Killercoda Ubuntu Playground, grep</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pattern is verified in RegexLab with its match count recorded; the severity grep returns exactly four lines from the log; the IP extraction returns four unique addresses; and the combined query correctly returns only the addresses from error and critical lines.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transition spd="fast" advClick="1">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200" b="1">
                <a:solidFill>
                  <a:srgbClr val="161B26"/>
                </a:solidFill>
                <a:latin typeface="Arial"/>
              </a:rPr>
              <a:t>Learn the building blocks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Digit, word, space classes plus anchors and groups</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Match an address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Test the IPv4 pattern and record the match count</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Match the severity</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Alternation with the ignore-case flag</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Understand the flags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g for all matches, i for case, m for multiline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Apply it to a log</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grep with the proven pattern against real data</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Filter and parse system logs with regular expressions to isolate the events that matter during troubleshooting (Core 2 objectives 3.1 and 4.8).</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 Analysis with Regular Expressions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pattern is verified in RegexLab with its match count recorded; the severity grep returns exactly four lines from the log; the IP extraction returns four unique addresses; and the combined query correctly returns only the addresses from error and critical lines.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transition spd="fast" advClick="1">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Malware Symptom Response and Browser Problem Resolution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Recognise malware and browser symptoms, apply the containment sequence and resolve browser-specific problems (Core 2 objectives 3.2 and 3.3).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Browser symptoms are how most malware infections are first reported, and the containment sequence matters more than the cleanup: a machine left on the network while you investigate keeps spreading. You build both the symptom map and the response sequence.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malware and browser symptom map with the response sequence and the containment decision point for each.</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Cybersecurity Simulator, Windows PC, browser settings, Windows Security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map covers at least eight malware symptoms and four browser symptoms with a response for each; network disconnection appears as the first containment action; the certificate warning causes are correctly separated; and post-cleanup verification includes checking persistence mechanisms.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transition spd="fast" advClick="1">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Contain it first</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Disconnect from the network before investigating</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List the symptoms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Pop-ups, redirection, slowdown and disabled tools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certificate</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Expired, self-signed, wrong clock or interception</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Clean the browser</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Search provider, extensions, proxy and shortcut target</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Verify and educate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Recheck persistence, then explain how it arrived</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Recognise malware and browser symptoms, apply the containment sequence and resolve browser-specific problems (Core 2 objectives 3.2 and 3.3).</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Malware Symptom Response and Browser Problem Resolution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map covers at least eight malware symptoms and four browser symptoms with a response for each; network disconnection appears as the first containment action; the certificate warning causes are correctly separated; and post-cleanup verification includes checking persistence mechanisms.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transition spd="fast" advClick="1">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Mobile OS and Application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and resolve mobile operating system and application faults including crashes, connectivity, battery and performance problems (Core 2 objectives 3.4 and 3.5).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Mobile faults have a fixed escalation order that resolves the large majority without data loss. You work that order on a real device, then handle the security-related symptoms that indicate something worse than a misbehaving app.</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mobile troubleshooting escalation sequence and a security symptom map with the response for each.</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Android or iOS device, application settings, device settings, mobile OS documentation</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sequence orders the five application steps from least to most destructive; the cache-versus-data distinction is stated with its consequence; the battery record names the top three consumers with figures; and every security symptom has a named cause and response.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transition spd="fast" advClick="1">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Order the escalation</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Force close, cache, data, reinstall, then update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Know the difference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Clearing data resets the app and removes saved logins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Split battery drain</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Background apps, weak signal, brightness or a dead cell</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Reset the radios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Airplane mode, forget the network, re-pair the device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security signs</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Sideloaded APKs, root or jailbreak, spoofed apps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and resolve mobile operating system and application faults including crashes, connectivity, battery and performance problems (Core 2 objectives 3.4 and 3.5).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Mobile OS and Application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sequence orders the five application steps from least to most destructive; the cache-versus-data distinction is stated with its consequence; the battery record names the top three consumers with figures; and every security symptom has a named cause and response.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transition spd="fast" advClick="1">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System Restore, Backup Verification and Recovery Testing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System Restore and Windows backup, then verify recovery by performing an actual restore (Core 2 objectives 3.1 and 4.3).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An untested backup is not a backup. You configure protection and backup, then actually restore a file — because the restore is the only step that proves the whole chain works, and it is the step that gets skipped.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configured and verified backup with a completed restore test and a written recovery procedure.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PC, System Protection, File History, Killercoda Ubuntu Playground, tar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restore point is created and listed; the archive is created and the original data deleted; the restore returns both files; md5sum -c reports OK for every file; and your recovery procedure states the 3-2-1 rule with the threat each part defeats.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transition spd="fast" advClick="1">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Create a restore point</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Confirm protection is on and the point is listed</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Know its scope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System files and registry, but not your documents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Apply 3-2-1</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Three copies, two media types, one kept off site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Work the arithmetic</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Incremental needs five restores; differential needs two</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Prove the restore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Delete, restore, then match the checksums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System Restore and Windows backup, then verify recovery by performing an actual restore (Core 2 objectives 3.1 and 4.3).</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System Restore, Backup Verification and Recovery Testing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 restore point is created and listed; the archive is created and the original data deleted; the restore returns both files; md5sum -c reports OK for every file; and your recovery procedure states the 3-2-1 rule with the threat each part defeats.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transition spd="fast" advClick="1">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08 RECAP · 23%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Software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Diagnose common Windows symptoms and select the correct recovery tool, escalating from least to most destructive (Core 2 objectives 3.1 and 3.2).</a:t>
            </a:r>
          </a:p>
          <a:p>
            <a:pPr>
              <a:spcAft>
                <a:spcPts val="1000"/>
              </a:spcAft>
            </a:pPr>
            <a:r>
              <a:rPr sz="1500" b="0">
                <a:solidFill>
                  <a:srgbClr val="161B26"/>
                </a:solidFill>
                <a:latin typeface="Arial"/>
              </a:rPr>
              <a:t>•  You can now: Filter and parse system logs with regular expressions to isolate the events that matter during troubleshooting (Core 2 objectives 3.1 and 4.8).</a:t>
            </a:r>
          </a:p>
          <a:p>
            <a:pPr>
              <a:spcAft>
                <a:spcPts val="1000"/>
              </a:spcAft>
            </a:pPr>
            <a:r>
              <a:rPr sz="1500" b="0">
                <a:solidFill>
                  <a:srgbClr val="161B26"/>
                </a:solidFill>
                <a:latin typeface="Arial"/>
              </a:rPr>
              <a:t>•  You can now: Recognise malware and browser symptoms, apply the containment sequence and resolve browser-specific problems (Core 2 objectives 3.2 and 3.3).</a:t>
            </a:r>
          </a:p>
          <a:p>
            <a:pPr>
              <a:spcAft>
                <a:spcPts val="1000"/>
              </a:spcAft>
            </a:pPr>
            <a:r>
              <a:rPr sz="1500" b="0">
                <a:solidFill>
                  <a:srgbClr val="161B26"/>
                </a:solidFill>
                <a:latin typeface="Arial"/>
              </a:rPr>
              <a:t>•  You can now: Diagnose and resolve mobile operating system and application faults including crashes, connectivity, battery and performance problems (Core 2 objectives 3.4 and 3.5).</a:t>
            </a:r>
          </a:p>
          <a:p>
            <a:pPr>
              <a:spcAft>
                <a:spcPts val="1000"/>
              </a:spcAft>
            </a:pPr>
            <a:r>
              <a:rPr sz="1500" b="0">
                <a:solidFill>
                  <a:srgbClr val="161B26"/>
                </a:solidFill>
                <a:latin typeface="Arial"/>
              </a:rPr>
              <a:t>•  You can now: Configure System Restore and Windows backup, then verify recovery by performing an actual restore (Core 2 objectives 3.1 and 4.3).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transition spd="med" advClick="1">
    <p:push dir="l"/>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09</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Operational Procedures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Documentation and ticketing · asset management · change management · backup and recovery · safety and environment · professionalism · scripting and remote access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09</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transition spd="med" advClick="1">
    <p:push dir="l"/>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2  ·  21%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09 at a Glance — Operational Procedures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2</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21% of Core 2</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5%</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50, Lab 51, Lab 52, Lab 53, Lab 54</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Documentation and ticketing · asset management · change management · backup and recovery · safety and environment · professionalism · scripting and remote access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transition spd="fast" advClick="1">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09  ·  21%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Operational Procedures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ticket is the unit of work and the audit trail. It must capture user and device information, a clear problem description, category, severity, escalation level, the steps attempted and the final resolution, written in plain professional language.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Asset management tracks what the organisation owns through inventory lists, asset tags and barcodes, the procurement life cycle, warranty and licensing status, and the user each asset is assigned to.</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Documentation types each serve a purpose: acceptable use policies, network topology diagrams, standard operating procedures, new-user setup and end-user termination checklists, incident reports and knowledge-base articles.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Change management protects production. Every change needs a documented business process, a stated purpose and scope, a risk analysis, a scheduled date and time, an approval, a rollback plan and a sandbox test before it goes live.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transition spd="med" advClick="1">
    <p:push dir="l"/>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09  ·  21%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Operational Procedures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The 3-2-1 backup rule requires three copies of the data on two different media with one copy off site, and it is the single most examinable backup fact in Core 2.</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Backup types trade time against restore complexity. A full backup copies everything, an incremental copies what changed since the last backup of any type and clears the archive bit, and a differential copies what changed since the last full backup and leaves the archive bit set.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An untested backup is not a backup. Restore testing on a schedule is what proves the backup chain, the media and the documented restore procedure actually work.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Electrostatic discharge damages components at voltages far below what a person can feel, so use an anti-static strap and mat, hold cards by the edges, store parts in anti-static bags and equalise potential before touching a component.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transition spd="med" advClick="1">
    <p:push dir="l"/>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09  ·  21%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Operational Procedures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Personal and electrical safety means disconnecting power before working inside a machine, never opening a power supply or CRT, using correct lifting technique, and knowing which fire extinguisher class is right for an electrical fire.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Environmental controls cover safe disposal of batteries, toner and devices under the relevant MSDS/SDS, temperature and humidity management, dust control, and protecting equipment with surge suppressors and an uninterruptible power supply.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Regulated data carries legal obligations: PII, PCI DSS for card data, GDPR for EU personal data, PHI under HIPAA for health data, and Singapore's PDPA — and the chain of custody must be preserved for anything that may become evidence.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Professional conduct is assessable: dress appropriately, use plain language rather than jargon, maintain a positive attitude, listen without interrupting, be culturally sensitive, avoid distractions, set realistic expectations and follow up afterwards.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transition spd="med" advClick="1">
    <p:push dir="l"/>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09  ·  21%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Operational Procedures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Scripting automates repetitive support work — restarting machines, remapping drives, installing applications, running backups and gathering inventory — using .bat, .ps1, .vbs, .sh, .py or .js, with the risks of unintended system changes and browser or resource overload.</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Remote access methods differ in security and use case: RDP for Windows desktops, VNC for cross-platform screen sharing, SSH for encrypted command line, VPN for network-level access, and third-party screen-sharing tools for supporting end users.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transition spd="med" advClick="1">
    <p:push dir="l"/>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Operational Procedures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50–51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Ticketing, Documentation and Knowledge Base Authoring</a:t>
            </a:r>
          </a:p>
          <a:p>
            <a:pPr>
              <a:spcAft>
                <a:spcPts val="900"/>
              </a:spcAft>
            </a:pPr>
            <a:r>
              <a:rPr sz="1400" b="0">
                <a:solidFill>
                  <a:srgbClr val="161B26"/>
                </a:solidFill>
                <a:latin typeface="Arial"/>
              </a:rPr>
              <a:t>•  Change Management and Asset Management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52–53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Backup Strategy Design and the 3-2-1 Rule</a:t>
            </a:r>
          </a:p>
          <a:p>
            <a:pPr>
              <a:spcAft>
                <a:spcPts val="900"/>
              </a:spcAft>
            </a:pPr>
            <a:r>
              <a:rPr sz="1400" b="0">
                <a:solidFill>
                  <a:srgbClr val="161B26"/>
                </a:solidFill>
                <a:latin typeface="Arial"/>
              </a:rPr>
              <a:t>•  Safety Procedures, ESD Control and Environmental Compliance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54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Professional Communication, Scripting and Remote Access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transition spd="fast" advClick="1">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Ticketing, Documentation and Knowledge Base Authoring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Write support tickets and documentation to professional standard, and author a knowledge base article from a resolved incident (Core 2 objective 4.1).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ticket is both the work record and the organisation's memory. You write a complete ticket from a real scenario, then convert it into the knowledge base article that stops the next technician re-solving the same problem from scratch.</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support ticket meeting all required fields, and a knowledge base article derived from it.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Ticketing template, documentation standards reference, knowledge base template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ticket contains all nine required fields with a justified severity and escalation level; the diagnostic steps include at least one that ruled a cause out; and the knowledge base article has a searchable title, symptom, cause, numbered resolution and prevention note.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transition spd="fast" advClick="1">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Capture the ticket</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User, device, symptom, category, severity and escalation</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Separate the voices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The user's words, then your technical observation</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200" b="1">
                <a:solidFill>
                  <a:srgbClr val="161B26"/>
                </a:solidFill>
                <a:latin typeface="Arial"/>
              </a:rPr>
              <a:t>Record what you ruled out</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negative result is evidence and belongs in the log</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Write the resolution</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Name the setting or component actually changed</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Publish the article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Searchable title, symptom, cause, steps and prevention</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Write support tickets and documentation to professional standard, and author a knowledge base article from a resolved incident (Core 2 objective 4.1).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Ticketing, Documentation and Knowledge Base Authoring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ticket contains all nine required fields with a justified severity and escalation level; the diagnostic steps include at least one that ruled a cause out; and the knowledge base article has a searchable title, symptom, cause, numbered resolution and prevention note.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transition spd="fast" advClick="1">
    <p:fade/>
  </p:transition>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Change Management and Asset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Prepare a change request with risk analysis, rollback plan and approval path, and maintain an asset register through the procurement life cycle (Core 2 objectives 4.2 and 4.1).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Change management is what stops a well-intentioned fix becoming an outage. You prepare a complete change request for a real change, then build the asset register that tells you what you actually own before you change any of it.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 change request with risk analysis and rollback plan, plus an asset register covering the procurement life cycle.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Change request template, asset register template, organisational policy reference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change request contains all ten fields with a risk level that is justified rather than asserted; the rollback plan has specific steps; the approver is separate from the implementer; and the asset register covers all seven life cycle stages.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transition spd="fast" advClick="1">
    <p:fade/>
  </p:transition>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Scope the change</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Purpose, affected systems, and what is out of scope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Analyse the risk</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Likelihood, impact, mitigation and a justified level</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Test in a sandbox</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Catch the incompatibility before it reaches 50 users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Plan the way back</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change with no rollback needs a stronger case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Separate the roles</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The implementer must not approve their own change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Prepare a change request with risk analysis, rollback plan and approval path, and maintain an asset register through the procurement life cycle (Core 2 objectives 4.2 and 4.1).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Change Management and Asset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change request contains all ten fields with a risk level that is justified rather than asserted; the rollback plan has specific steps; the approver is separate from the implementer; and the asset register covers all seven life cycle stages.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transition spd="fast" advClick="1">
    <p:fade/>
  </p:transition>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Backup Strategy Design and the 3-2-1 Rule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Design a backup strategy specifying types, rotation, retention and off-site copy, and justify it against a stated recovery objective (Core 2 objective 4.3).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design a backup strategy for a small business, choosing the backup types and rotation that meet a stated recovery point and recovery time objective — and then prove the design meets them by working the restore arithmetic rather than assuming it does.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 backup strategy with schedule, rotation scheme, retention policy and a restore-time calculation proving it meets the objectives.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Backup strategy template, Killercoda Ubuntu Playground, backup type reference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strategy states both RPO and RTO and the schedule meets them; the restore arithmetic is worked for both incremental and differential; the choice is justified against the 4-hour RTO; and the design includes an offline or immutable copy and a stated restore test schedule.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transition spd="fast" advClick="1">
    <p:fade/>
  </p:transition>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Set the objectives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How much data can be lost, and how long offline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Apply 3-2-1</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Each element defeats a different class of failure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Compare the types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Full, incremental and differential on time and restore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Work the restores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Five operations against two for the same recovery</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Protect from ransomware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One copy offline, air-gapped or immutable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Design a backup strategy specifying types, rotation, retention and off-site copy, and justify it against a stated recovery objective (Core 2 objective 4.3).</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Backup Strategy Design and the 3-2-1 Rule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strategy states both RPO and RTO and the schedule meets them; the restore arithmetic is worked for both incremental and differential; the choice is justified against the 4-hour RTO; and the design includes an offline or immutable copy and a stated restore test schedule.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transition spd="fast" advClick="1">
    <p:fade/>
  </p:transition>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Safety Procedures, ESD Control and Environmental Compliance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ESD, electrical and personal safety procedures, and comply with environmental requirements for disposal and equipment protection (Core 2 objectives 4.4 and 4.5).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Safety procedures are examinable and are the part of the job where a mistake injures someone or destroys equipment. You build the complete procedure covering ESD, electrical safety, personal safety and environmental compliance, and identify hazards in a real workspace.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workspace safety procedure covering ESD, electrical, personal and environmental requirements, with a completed hazard assessment.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Anti-static equipment, safety reference material, MSDS/SDS documentation, workspace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procedure covers ESD, electrical, personal and environmental safety; it explicitly forbids opening a PSU and a CRT and states why; Class C is named for electrical fires; and the hazard assessment lists real hazards with a control for each.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transition spd="fast" advClick="1">
    <p:fade/>
  </p:transition>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Control static</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Strap, mat, bags — damage happens below what you can feel</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Handle by the edges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Never touch gold contacts or chip pins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Isolate the power</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Unplug and discharge; never open a PSU or a CRT</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Know the fire class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Class C for electrical; never water</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Dispose correctly</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Batteries, toner and e-waste under the relevant SDS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Apply ESD, electrical and personal safety procedures, and comply with environmental requirements for disposal and equipment protection (Core 2 objectives 4.4 and 4.5).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Safety Procedures, ESD Control and Environmental Compliance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procedure covers ESD, electrical, personal and environmental safety; it explicitly forbids opening a PSU and a CRT and states why; Class C is named for electrical fires; and the hazard assessment lists real hazards with a control for each.</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transition spd="fast" advClick="1">
    <p:fade/>
  </p:transition>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Professional Communication, Scripting and Remote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professional communication standards including handling difficult customers, and select appropriate scripting and remote access methods for support tasks (Core 2 objectives 4.7, 4.8 and 4.9).</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This final lab covers the three areas that decide whether a technically correct technician is actually effective: how they communicate, how they automate repetitive work, and how they reach a machine they cannot physically touch.</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professional communication guide with difficult-customer scenarios, an automation candidate list and a remote access selection matrix.</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Playground, communication scenario briefs, remote access reference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inventory script runs and outputs all seven fields; both difficult-customer scenarios have written responses applying the stated rules; the matrix covers five remote access methods with port and security consideration; and the scripting risks are recorded.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transition spd="fast" advClick="1">
    <p:fade/>
  </p:transition>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Set the standard</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Plain language, no jargon, and a positive attitude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Listen and confirm</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Restate the problem before you act on it</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200" b="1">
                <a:solidFill>
                  <a:srgbClr val="161B26"/>
                </a:solidFill>
                <a:latin typeface="Arial"/>
              </a:rPr>
              <a:t>Handle the difficult call</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Do not argue, dismiss or judge — clarify instead</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Automate the repetition</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Restarts, drive mapping, installs, backups and inventory</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Choose the remote path</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RDP, VNC, SSH, VPN or screen sharing, by need</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Apply professional communication standards including handling difficult customers, and select appropriate scripting and remote access methods for support tasks (Core 2 objectives 4.7, 4.8 and 4.9).</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Professional Communication, Scripting and Remote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inventory script runs and outputs all seven fields; both difficult-customer scenarios have written responses applying the stated rules; the matrix covers five remote access methods with port and security consideration; and the scripting risks are recorded.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transition spd="fast" advClick="1">
    <p:fade/>
  </p:transition>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09 RECAP · 21%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Operational Procedures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Write support tickets and documentation to professional standard, and author a knowledge base article from a resolved incident (Core 2 objective 4.1).</a:t>
            </a:r>
          </a:p>
          <a:p>
            <a:pPr>
              <a:spcAft>
                <a:spcPts val="1000"/>
              </a:spcAft>
            </a:pPr>
            <a:r>
              <a:rPr sz="1500" b="0">
                <a:solidFill>
                  <a:srgbClr val="161B26"/>
                </a:solidFill>
                <a:latin typeface="Arial"/>
              </a:rPr>
              <a:t>•  You can now: Prepare a change request with risk analysis, rollback plan and approval path, and maintain an asset register through the procurement life cycle (Core 2 objectives 4.2 and 4.1).</a:t>
            </a:r>
          </a:p>
          <a:p>
            <a:pPr>
              <a:spcAft>
                <a:spcPts val="1000"/>
              </a:spcAft>
            </a:pPr>
            <a:r>
              <a:rPr sz="1500" b="0">
                <a:solidFill>
                  <a:srgbClr val="161B26"/>
                </a:solidFill>
                <a:latin typeface="Arial"/>
              </a:rPr>
              <a:t>•  You can now: Design a backup strategy specifying types, rotation, retention and off-site copy, and justify it against a stated recovery objective (Core 2 objective 4.3).</a:t>
            </a:r>
          </a:p>
          <a:p>
            <a:pPr>
              <a:spcAft>
                <a:spcPts val="1000"/>
              </a:spcAft>
            </a:pPr>
            <a:r>
              <a:rPr sz="1500" b="0">
                <a:solidFill>
                  <a:srgbClr val="161B26"/>
                </a:solidFill>
                <a:latin typeface="Arial"/>
              </a:rPr>
              <a:t>•  You can now: Apply ESD, electrical and personal safety procedures, and comply with environmental requirements for disposal and equipment protection (Core 2 objectives 4.4 and 4.5).</a:t>
            </a:r>
          </a:p>
          <a:p>
            <a:pPr>
              <a:spcAft>
                <a:spcPts val="1000"/>
              </a:spcAft>
            </a:pPr>
            <a:r>
              <a:rPr sz="1500" b="0">
                <a:solidFill>
                  <a:srgbClr val="161B26"/>
                </a:solidFill>
                <a:latin typeface="Arial"/>
              </a:rPr>
              <a:t>•  You can now: Apply professional communication standards including handling difficult customers, and select appropriate scripting and remote access methods for support tasks (Core 2 objectives 4.7, 4.8 and 4.9).</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transition spd="med" advClick="1">
    <p:push dir="l"/>
  </p:transition>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transition spd="med" advClick="1">
    <p:push dir="l"/>
  </p:transition>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LO1 · Diagnosed and resolved</a:t>
            </a:r>
          </a:p>
          <a:p>
            <a:pPr algn="l">
              <a:spcAft>
                <a:spcPts val="300"/>
              </a:spcAft>
            </a:pPr>
            <a:r>
              <a:rPr sz="1200" b="0">
                <a:solidFill>
                  <a:srgbClr val="5B6372"/>
                </a:solidFill>
                <a:latin typeface="Arial"/>
              </a:rPr>
              <a:t>Applied the six-step methodology to hardware, network, OS and application faults, resolving root causes rather than symptoms.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LO2 · Troubleshot and configured</a:t>
            </a:r>
          </a:p>
          <a:p>
            <a:pPr algn="l">
              <a:spcAft>
                <a:spcPts val="300"/>
              </a:spcAft>
            </a:pPr>
            <a:r>
              <a:rPr sz="1200" b="0">
                <a:solidFill>
                  <a:srgbClr val="5B6372"/>
                </a:solidFill>
                <a:latin typeface="Arial"/>
              </a:rPr>
              <a:t>Configured SOHO networks, RAID, BIOS/UEFI, Windows security, Linux permissions and mobile device management.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LO3 · Planned upgrades</a:t>
            </a:r>
          </a:p>
          <a:p>
            <a:pPr algn="l">
              <a:spcAft>
                <a:spcPts val="300"/>
              </a:spcAft>
            </a:pPr>
            <a:r>
              <a:rPr sz="1200" b="0">
                <a:solidFill>
                  <a:srgbClr val="5B6372"/>
                </a:solidFill>
                <a:latin typeface="Arial"/>
              </a:rPr>
              <a:t>Produced memory, storage, power and backup upgrade plans justified against real requirements and constraints.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LO4 · Tested and documented</a:t>
            </a:r>
          </a:p>
          <a:p>
            <a:pPr algn="l">
              <a:spcAft>
                <a:spcPts val="300"/>
              </a:spcAft>
            </a:pPr>
            <a:r>
              <a:rPr sz="1200" b="0">
                <a:solidFill>
                  <a:srgbClr val="5B6372"/>
                </a:solidFill>
                <a:latin typeface="Arial"/>
              </a:rPr>
              <a:t>Verified every lab against a stated success criterion and produced tickets, runbooks and knowledge base articles.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transition spd="fast" advClick="1">
    <p:fade/>
  </p:transition>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Certification Path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Step 1 · Core 1 (220-1101)</a:t>
            </a:r>
          </a:p>
          <a:p>
            <a:pPr algn="l">
              <a:spcAft>
                <a:spcPts val="300"/>
              </a:spcAft>
            </a:pPr>
            <a:r>
              <a:rPr sz="1200" b="0">
                <a:solidFill>
                  <a:srgbClr val="5B6372"/>
                </a:solidFill>
                <a:latin typeface="Arial"/>
              </a:rPr>
              <a:t>Mobile devices, networking, hardware, virtualization and cloud, hardware and network troubleshooting.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Step 2 · Core 2 (220-1102)</a:t>
            </a:r>
          </a:p>
          <a:p>
            <a:pPr algn="l">
              <a:spcAft>
                <a:spcPts val="300"/>
              </a:spcAft>
            </a:pPr>
            <a:r>
              <a:rPr sz="1200" b="0">
                <a:solidFill>
                  <a:srgbClr val="5B6372"/>
                </a:solidFill>
                <a:latin typeface="Arial"/>
              </a:rPr>
              <a:t>Operating systems, security, software troubleshooting and operational procedures.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Both required</a:t>
            </a:r>
          </a:p>
          <a:p>
            <a:pPr algn="l">
              <a:spcAft>
                <a:spcPts val="300"/>
              </a:spcAft>
            </a:pPr>
            <a:r>
              <a:rPr sz="1200" b="0">
                <a:solidFill>
                  <a:srgbClr val="5B6372"/>
                </a:solidFill>
                <a:latin typeface="Arial"/>
              </a:rPr>
              <a:t>You must pass both exams to earn the CompTIA A+ certification. They are sat separately.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Practice first</a:t>
            </a:r>
          </a:p>
          <a:p>
            <a:pPr algn="l">
              <a:spcAft>
                <a:spcPts val="300"/>
              </a:spcAft>
            </a:pPr>
            <a:r>
              <a:rPr sz="1200" b="0">
                <a:solidFill>
                  <a:srgbClr val="5B6372"/>
                </a:solidFill>
                <a:latin typeface="Arial"/>
              </a:rPr>
              <a:t>Sit the practice exam at https://exams.tertiaryinfotech.com and revise the domains where you scored lowest.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Rebuild the labs</a:t>
            </a:r>
          </a:p>
          <a:p>
            <a:pPr algn="l">
              <a:spcAft>
                <a:spcPts val="300"/>
              </a:spcAft>
            </a:pPr>
            <a:r>
              <a:rPr sz="1200" b="0">
                <a:solidFill>
                  <a:srgbClr val="5B6372"/>
                </a:solidFill>
                <a:latin typeface="Arial"/>
              </a:rPr>
              <a:t>Redo each lab from a blank sheet until the diagnostic sequence is automatic rather than looked up.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Keep the tools</a:t>
            </a:r>
          </a:p>
          <a:p>
            <a:pPr algn="l">
              <a:spcAft>
                <a:spcPts val="300"/>
              </a:spcAft>
            </a:pPr>
            <a:r>
              <a:rPr sz="1200" b="0">
                <a:solidFill>
                  <a:srgbClr val="5B6372"/>
                </a:solidFill>
                <a:latin typeface="Arial"/>
              </a:rPr>
              <a:t>The four browser tools and the Killercoda playground stay free — use them to keep the skills current.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transition spd="fast" advClick="1">
    <p:fade/>
  </p:transition>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FREE · NO INSTALL · KEEP USING THEM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Keep Practising — Your Lab Toolkit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IP Calculator</a:t>
            </a:r>
          </a:p>
          <a:p>
            <a:pPr algn="l">
              <a:spcAft>
                <a:spcPts val="300"/>
              </a:spcAft>
            </a:pPr>
            <a:r>
              <a:rPr sz="1100" b="0">
                <a:solidFill>
                  <a:srgbClr val="5B6372"/>
                </a:solidFill>
                <a:latin typeface="Arial"/>
              </a:rPr>
              <a:t>https://alfredang.github.io/ipcalculator/</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PCAP Analyzer</a:t>
            </a:r>
          </a:p>
          <a:p>
            <a:pPr algn="l">
              <a:spcAft>
                <a:spcPts val="300"/>
              </a:spcAft>
            </a:pPr>
            <a:r>
              <a:rPr sz="1100" b="0">
                <a:solidFill>
                  <a:srgbClr val="5B6372"/>
                </a:solidFill>
                <a:latin typeface="Arial"/>
              </a:rPr>
              <a:t>https://alfredang.github.io/pcapanalyzer/</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Cybersecurity Simulator</a:t>
            </a:r>
          </a:p>
          <a:p>
            <a:pPr algn="l">
              <a:spcAft>
                <a:spcPts val="300"/>
              </a:spcAft>
            </a:pPr>
            <a:r>
              <a:rPr sz="1100" b="0">
                <a:solidFill>
                  <a:srgbClr val="5B6372"/>
                </a:solidFill>
                <a:latin typeface="Arial"/>
              </a:rPr>
              <a:t>https://alfredang.github.io/cybersecuritysimulator/</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RegexLab</a:t>
            </a:r>
          </a:p>
          <a:p>
            <a:pPr algn="l">
              <a:spcAft>
                <a:spcPts val="300"/>
              </a:spcAft>
            </a:pPr>
            <a:r>
              <a:rPr sz="1100" b="0">
                <a:solidFill>
                  <a:srgbClr val="5B6372"/>
                </a:solidFill>
                <a:latin typeface="Arial"/>
              </a:rPr>
              <a:t>https://alfredang.github.io/regexgenerator/</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Killercoda Ubuntu Playground</a:t>
            </a:r>
          </a:p>
          <a:p>
            <a:pPr algn="l">
              <a:spcAft>
                <a:spcPts val="300"/>
              </a:spcAft>
            </a:pPr>
            <a:r>
              <a:rPr sz="1100" b="0">
                <a:solidFill>
                  <a:srgbClr val="5B6372"/>
                </a:solidFill>
                <a:latin typeface="Arial"/>
              </a:rPr>
              <a:t>https://killercoda.com/playgrounds/scenario/ubuntu</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transition spd="fast" advClick="1">
    <p:fade/>
  </p:transition>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Network+ Training</a:t>
            </a:r>
          </a:p>
          <a:p>
            <a:pPr algn="l">
              <a:spcAft>
                <a:spcPts val="300"/>
              </a:spcAft>
            </a:pPr>
            <a:r>
              <a:rPr sz="1300" b="0">
                <a:solidFill>
                  <a:srgbClr val="5B6372"/>
                </a:solidFill>
                <a:latin typeface="Arial"/>
              </a:rPr>
              <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79192"/>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Security+ Training</a:t>
            </a:r>
          </a:p>
          <a:p>
            <a:pPr algn="l">
              <a:spcAft>
                <a:spcPts val="300"/>
              </a:spcAft>
            </a:pPr>
            <a:r>
              <a:rPr sz="1300" b="0">
                <a:solidFill>
                  <a:srgbClr val="5B6372"/>
                </a:solidFill>
                <a:latin typeface="Arial"/>
              </a:rPr>
              <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Server+ Training</a:t>
            </a:r>
          </a:p>
          <a:p>
            <a:pPr algn="l">
              <a:spcAft>
                <a:spcPts val="300"/>
              </a:spcAft>
            </a:pPr>
            <a:r>
              <a:rPr sz="1300" b="0">
                <a:solidFill>
                  <a:srgbClr val="5B6372"/>
                </a:solidFill>
                <a:latin typeface="Arial"/>
              </a:rPr>
              <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Linux+ Training</a:t>
            </a:r>
          </a:p>
          <a:p>
            <a:pPr algn="l">
              <a:spcAft>
                <a:spcPts val="300"/>
              </a:spcAft>
            </a:pPr>
            <a:r>
              <a:rPr sz="1300" b="0">
                <a:solidFill>
                  <a:srgbClr val="5B6372"/>
                </a:solidFill>
                <a:latin typeface="Arial"/>
              </a:rPr>
              <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Cloud+ Training</a:t>
            </a:r>
          </a:p>
          <a:p>
            <a:pPr algn="l">
              <a:spcAft>
                <a:spcPts val="300"/>
              </a:spcAft>
            </a:pPr>
            <a:r>
              <a:rPr sz="1300" b="0">
                <a:solidFill>
                  <a:srgbClr val="5B6372"/>
                </a:solidFill>
                <a:latin typeface="Arial"/>
              </a:rPr>
              <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51576"/>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 CompTIA PenTest+ Training</a:t>
            </a:r>
          </a:p>
          <a:p>
            <a:pPr algn="l">
              <a:spcAft>
                <a:spcPts val="300"/>
              </a:spcAft>
            </a:pPr>
            <a:r>
              <a:rPr sz="1300" b="0">
                <a:solidFill>
                  <a:srgbClr val="5B6372"/>
                </a:solidFill>
                <a:latin typeface="Arial"/>
              </a:rPr>
              <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transition spd="fast" advClick="1">
    <p:fade/>
  </p:transition>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or after the class, you can contact us below.</a:t>
            </a:r>
          </a:p>
          <a:p>
            <a:pPr>
              <a:spcAft>
                <a:spcPts val="1000"/>
              </a:spcAft>
            </a:pPr>
            <a:r>
              <a:rPr sz="2000" b="0">
                <a:solidFill>
                  <a:srgbClr val="161B26"/>
                </a:solidFill>
                <a:latin typeface="Arial"/>
              </a:rPr>
              <a:t>•  Email: enquiry@tertiaryinfotech.com</a:t>
            </a:r>
          </a:p>
          <a:p>
            <a:pPr>
              <a:spcAft>
                <a:spcPts val="1000"/>
              </a:spcAft>
            </a:pPr>
            <a:r>
              <a:rPr sz="2000" b="0">
                <a:solidFill>
                  <a:srgbClr val="161B26"/>
                </a:solidFill>
                <a:latin typeface="Arial"/>
              </a:rPr>
              <a:t>•  Tel: +65 6100 0613</a:t>
            </a:r>
          </a:p>
          <a:p>
            <a:pPr>
              <a:spcAft>
                <a:spcPts val="1000"/>
              </a:spcAft>
            </a:pPr>
            <a:r>
              <a:rPr sz="2000" b="0">
                <a:solidFill>
                  <a:srgbClr val="161B26"/>
                </a:solidFill>
                <a:latin typeface="Arial"/>
              </a:rPr>
              <a:t>•  Website: www.tertiarycourses.com.sg</a:t>
            </a:r>
          </a:p>
          <a:p>
            <a:pPr>
              <a:spcAft>
                <a:spcPts val="1000"/>
              </a:spcAft>
            </a:pPr>
            <a:r>
              <a:rPr sz="2000" b="0">
                <a:solidFill>
                  <a:srgbClr val="161B26"/>
                </a:solidFill>
                <a:latin typeface="Arial"/>
              </a:rPr>
              <a:t>•  LMS / TMS: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transition spd="fast" advClick="1">
    <p:fade/>
  </p:transition>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Written Assessment (SAQ)</a:t>
            </a:r>
          </a:p>
          <a:p>
            <a:pPr algn="l">
              <a:spcAft>
                <a:spcPts val="300"/>
              </a:spcAft>
            </a:pPr>
            <a:r>
              <a:rPr sz="1300" b="0">
                <a:solidFill>
                  <a:srgbClr val="5B6372"/>
                </a:solidFill>
                <a:latin typeface="Arial"/>
              </a:rPr>
              <a:t>1 hour · open book · short-answer knowledge questions across the nine domains.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Practical Performance (PP)</a:t>
            </a:r>
          </a:p>
          <a:p>
            <a:pPr algn="l">
              <a:spcAft>
                <a:spcPts val="300"/>
              </a:spcAft>
            </a:pPr>
            <a:r>
              <a:rPr sz="1300" b="0">
                <a:solidFill>
                  <a:srgbClr val="5B6372"/>
                </a:solidFill>
                <a:latin typeface="Arial"/>
              </a:rPr>
              <a:t>1 hour · open book · hands-on support, configuration and troubleshooting tasks.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Remember to take the Assessment digital attendance (TRAQOM) before you start.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Submit on the LMS</a:t>
            </a:r>
          </a:p>
          <a:p>
            <a:pPr algn="l">
              <a:spcAft>
                <a:spcPts val="300"/>
              </a:spcAft>
            </a:pPr>
            <a:r>
              <a:rPr sz="1300" b="0">
                <a:solidFill>
                  <a:srgbClr val="5B6372"/>
                </a:solidFill>
                <a:latin typeface="Arial"/>
              </a:rPr>
              <a:t>Upload your completed answers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transition spd="med" advClick="1">
    <p:push dir="l"/>
  </p:transition>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Scan the QR code on the LMS</a:t>
            </a:r>
          </a:p>
        </p:txBody>
      </p:sp>
      <p:cxnSp>
        <p:nvCxnSpPr>
          <p:cNvPr id="13" name="Connector 12"/>
          <p:cNvCxnSpPr/>
          <p:nvPr/>
        </p:nvCxnSpPr>
        <p:spPr>
          <a:xfrm>
            <a:off x="2651760" y="3282695"/>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Scan the SSG assessment QR</a:t>
            </a:r>
          </a:p>
        </p:txBody>
      </p:sp>
      <p:cxnSp>
        <p:nvCxnSpPr>
          <p:cNvPr id="20" name="Connector 19"/>
          <p:cNvCxnSpPr/>
          <p:nvPr/>
        </p:nvCxnSpPr>
        <p:spPr>
          <a:xfrm>
            <a:off x="4855464" y="3282695"/>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82695"/>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Upload your completed answers</a:t>
            </a:r>
          </a:p>
        </p:txBody>
      </p:sp>
      <p:cxnSp>
        <p:nvCxnSpPr>
          <p:cNvPr id="34" name="Connector 33"/>
          <p:cNvCxnSpPr/>
          <p:nvPr/>
        </p:nvCxnSpPr>
        <p:spPr>
          <a:xfrm>
            <a:off x="9262872" y="3282695"/>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Sign the Assessment Summary Record</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transition spd="fast" advClick="1">
    <p:fade/>
  </p:transition>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GOOD LUCK IN YOUR EXAMS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diagnose, configure, secure and document the hardware, networks, operating systems and mobile devices an IT support role depends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